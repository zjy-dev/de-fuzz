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75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8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48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eu-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37660" y="438912"/>
            <a:ext cx="868680" cy="868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35331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0" i="0">
                <a:solidFill>
                  <a:srgbClr val="1B5E20"/>
                </a:solidFill>
                <a:latin typeface="Microsoft YaHei" panose="020B0503020204020204" charset="-122"/>
                <a:ea typeface="Microsoft YaHei" panose="020B0503020204020204" charset="-122"/>
              </a:rPr>
              <a:t>东南大学  ·  网络空间安全学院</a:t>
            </a:r>
            <a:endParaRPr sz="1400" b="0" i="0">
              <a:solidFill>
                <a:srgbClr val="1B5E2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1874519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800" b="1" i="0">
                <a:solidFill>
                  <a:srgbClr val="1B5E20"/>
                </a:solidFill>
                <a:latin typeface="Microsoft YaHei" panose="020B0503020204020204" charset="-122"/>
                <a:ea typeface="Microsoft YaHei" panose="020B0503020204020204" charset="-122"/>
              </a:rPr>
              <a:t>基于大语言模型的编译器防御机制脆弱性分析方法研究</a:t>
            </a:r>
            <a:endParaRPr sz="2800" b="1" i="0">
              <a:solidFill>
                <a:srgbClr val="1B5E2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297680" y="2542032"/>
            <a:ext cx="548640" cy="45720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651760"/>
            <a:ext cx="82296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0" i="1">
                <a:solidFill>
                  <a:srgbClr val="555555"/>
                </a:solidFill>
                <a:latin typeface="Microsoft YaHei" panose="020B0503020204020204" charset="-122"/>
                <a:ea typeface="Microsoft YaHei" panose="020B0503020204020204" charset="-122"/>
              </a:rPr>
              <a:t>DeFuzz · LLM 驱动的编译器防御机制模糊测试</a:t>
            </a:r>
            <a:endParaRPr sz="1400" b="0" i="1">
              <a:solidFill>
                <a:srgbClr val="555555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011680" y="3246120"/>
            <a:ext cx="5120640" cy="1143000"/>
          </a:xfrm>
          <a:prstGeom prst="rect">
            <a:avLst/>
          </a:prstGeom>
          <a:solidFill>
            <a:srgbClr val="E8F5E9"/>
          </a:solidFill>
          <a:ln w="9525">
            <a:solidFill>
              <a:srgbClr val="1B5E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11680" y="3246120"/>
            <a:ext cx="73152" cy="114300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04288" y="3410712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Microsoft YaHei" panose="020B0503020204020204" charset="-122"/>
                <a:ea typeface="Microsoft YaHei" panose="020B0503020204020204" charset="-122"/>
              </a:rPr>
              <a:t>研究生：</a:t>
            </a:r>
            <a:r>
              <a:rPr sz="1400" b="1" i="0">
                <a:solidFill>
                  <a:srgbClr val="1B5E20"/>
                </a:solidFill>
                <a:latin typeface="Microsoft YaHei" panose="020B0503020204020204" charset="-122"/>
                <a:ea typeface="Microsoft YaHei" panose="020B0503020204020204" charset="-122"/>
              </a:rPr>
              <a:t>张景耀</a:t>
            </a:r>
            <a:endParaRPr sz="1400" b="1" i="0">
              <a:solidFill>
                <a:srgbClr val="1B5E2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304288" y="379476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Microsoft YaHei" panose="020B0503020204020204" charset="-122"/>
                <a:ea typeface="Microsoft YaHei" panose="020B0503020204020204" charset="-122"/>
              </a:rPr>
              <a:t>学　号：</a:t>
            </a:r>
            <a:r>
              <a:rPr sz="1300" b="1" i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</a:rPr>
              <a:t>245569</a:t>
            </a:r>
            <a:endParaRPr sz="1300" b="1" i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617720" y="3410712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Microsoft YaHei" panose="020B0503020204020204" charset="-122"/>
                <a:ea typeface="Microsoft YaHei" panose="020B0503020204020204" charset="-122"/>
              </a:rPr>
              <a:t>指导教师：</a:t>
            </a:r>
            <a:r>
              <a:rPr sz="1400" b="1" i="0">
                <a:solidFill>
                  <a:srgbClr val="1B5E20"/>
                </a:solidFill>
                <a:latin typeface="Microsoft YaHei" panose="020B0503020204020204" charset="-122"/>
                <a:ea typeface="Microsoft YaHei" panose="020B0503020204020204" charset="-122"/>
              </a:rPr>
              <a:t>徐坚皓</a:t>
            </a:r>
            <a:endParaRPr sz="1400" b="1" i="0">
              <a:solidFill>
                <a:srgbClr val="1B5E2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617720" y="3794760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Microsoft YaHei" panose="020B0503020204020204" charset="-122"/>
                <a:ea typeface="Microsoft YaHei" panose="020B0503020204020204" charset="-122"/>
              </a:rPr>
              <a:t>学位类别：</a:t>
            </a:r>
            <a:r>
              <a:rPr sz="1300" b="1" i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</a:rPr>
              <a:t>专业硕士</a:t>
            </a:r>
            <a:r>
              <a:rPr sz="1200" b="0" i="0">
                <a:solidFill>
                  <a:srgbClr val="555555"/>
                </a:solidFill>
                <a:latin typeface="Microsoft YaHei" panose="020B0503020204020204" charset="-122"/>
                <a:ea typeface="Microsoft YaHei" panose="020B0503020204020204" charset="-122"/>
              </a:rPr>
              <a:t>  ·  电子信息</a:t>
            </a:r>
            <a:endParaRPr sz="1200" b="0" i="0">
              <a:solidFill>
                <a:srgbClr val="555555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57200" y="464058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1">
                <a:solidFill>
                  <a:srgbClr val="555555"/>
                </a:solidFill>
                <a:latin typeface="Microsoft YaHei" panose="020B0503020204020204" charset="-122"/>
                <a:ea typeface="Microsoft YaHei" panose="020B0503020204020204" charset="-122"/>
              </a:rPr>
              <a:t>开题报告  ·  2026.05</a:t>
            </a:r>
            <a:endParaRPr sz="1100" b="0" i="1">
              <a:solidFill>
                <a:srgbClr val="555555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eu-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37660" y="438912"/>
            <a:ext cx="868680" cy="868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458405"/>
            <a:ext cx="8229600" cy="2152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0" i="0">
                <a:solidFill>
                  <a:srgbClr val="1B5E20"/>
                </a:solidFill>
                <a:latin typeface="Microsoft YaHei" panose="020B0503020204020204" charset="-122"/>
                <a:ea typeface="Microsoft YaHei" panose="020B0503020204020204" charset="-122"/>
              </a:rPr>
              <a:t>网络空间安全学院</a:t>
            </a:r>
            <a:endParaRPr sz="1400" b="0" i="0">
              <a:solidFill>
                <a:srgbClr val="1B5E2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1959292"/>
            <a:ext cx="8229600" cy="86169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800" b="1" i="0">
                <a:solidFill>
                  <a:srgbClr val="1B5E20"/>
                </a:solidFill>
                <a:latin typeface="Microsoft YaHei" panose="020B0503020204020204" charset="-122"/>
                <a:ea typeface="Microsoft YaHei" panose="020B0503020204020204" charset="-122"/>
              </a:rPr>
              <a:t>基于大语言模型的编译器防御机制</a:t>
            </a:r>
            <a:endParaRPr sz="2800" b="1" i="0">
              <a:solidFill>
                <a:srgbClr val="1B5E20"/>
              </a:solidFill>
              <a:latin typeface="Microsoft YaHei" panose="020B0503020204020204" charset="-122"/>
              <a:ea typeface="Microsoft YaHei" panose="020B0503020204020204" charset="-122"/>
            </a:endParaRPr>
          </a:p>
          <a:p>
            <a:pPr algn="ctr"/>
            <a:r>
              <a:rPr sz="2800" b="1" i="0">
                <a:solidFill>
                  <a:srgbClr val="1B5E20"/>
                </a:solidFill>
                <a:latin typeface="Microsoft YaHei" panose="020B0503020204020204" charset="-122"/>
                <a:ea typeface="Microsoft YaHei" panose="020B0503020204020204" charset="-122"/>
              </a:rPr>
              <a:t>脆弱性分析方法研究</a:t>
            </a:r>
            <a:endParaRPr sz="2800" b="1" i="0">
              <a:solidFill>
                <a:srgbClr val="1B5E2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297680" y="1843532"/>
            <a:ext cx="548640" cy="45720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011680" y="3246120"/>
            <a:ext cx="5120640" cy="1143000"/>
          </a:xfrm>
          <a:prstGeom prst="rect">
            <a:avLst/>
          </a:prstGeom>
          <a:solidFill>
            <a:srgbClr val="E8F5E9"/>
          </a:solidFill>
          <a:ln w="9525">
            <a:solidFill>
              <a:srgbClr val="1B5E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11680" y="3246120"/>
            <a:ext cx="73152" cy="114300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04288" y="3410712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Microsoft YaHei" panose="020B0503020204020204" charset="-122"/>
                <a:ea typeface="Microsoft YaHei" panose="020B0503020204020204" charset="-122"/>
              </a:rPr>
              <a:t>研究生：</a:t>
            </a:r>
            <a:r>
              <a:rPr sz="1400" b="1" i="0">
                <a:solidFill>
                  <a:srgbClr val="1B5E20"/>
                </a:solidFill>
                <a:latin typeface="Microsoft YaHei" panose="020B0503020204020204" charset="-122"/>
                <a:ea typeface="Microsoft YaHei" panose="020B0503020204020204" charset="-122"/>
              </a:rPr>
              <a:t>张景耀</a:t>
            </a:r>
            <a:endParaRPr sz="1400" b="1" i="0">
              <a:solidFill>
                <a:srgbClr val="1B5E2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304288" y="379476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Microsoft YaHei" panose="020B0503020204020204" charset="-122"/>
                <a:ea typeface="Microsoft YaHei" panose="020B0503020204020204" charset="-122"/>
              </a:rPr>
              <a:t>学　号：</a:t>
            </a:r>
            <a:r>
              <a:rPr sz="1300" b="1" i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</a:rPr>
              <a:t>245569</a:t>
            </a:r>
            <a:endParaRPr sz="1300" b="1" i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617720" y="3410712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Microsoft YaHei" panose="020B0503020204020204" charset="-122"/>
                <a:ea typeface="Microsoft YaHei" panose="020B0503020204020204" charset="-122"/>
              </a:rPr>
              <a:t>指导教师：</a:t>
            </a:r>
            <a:r>
              <a:rPr sz="1400" b="1" i="0">
                <a:solidFill>
                  <a:srgbClr val="1B5E20"/>
                </a:solidFill>
                <a:latin typeface="Microsoft YaHei" panose="020B0503020204020204" charset="-122"/>
                <a:ea typeface="Microsoft YaHei" panose="020B0503020204020204" charset="-122"/>
              </a:rPr>
              <a:t>徐坚皓</a:t>
            </a:r>
            <a:endParaRPr sz="1400" b="1" i="0">
              <a:solidFill>
                <a:srgbClr val="1B5E2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617720" y="3794760"/>
            <a:ext cx="233172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Microsoft YaHei" panose="020B0503020204020204" charset="-122"/>
                <a:ea typeface="Microsoft YaHei" panose="020B0503020204020204" charset="-122"/>
              </a:rPr>
              <a:t>学位类别：</a:t>
            </a:r>
            <a:r>
              <a:rPr sz="1300" b="1" i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</a:rPr>
              <a:t>专业硕士</a:t>
            </a:r>
            <a:endParaRPr sz="1200" b="0" i="0">
              <a:solidFill>
                <a:srgbClr val="555555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57200" y="464058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  <a:latin typeface="Microsoft YaHei" panose="020B0503020204020204" charset="-122"/>
                <a:ea typeface="Microsoft YaHei" panose="020B0503020204020204" charset="-122"/>
              </a:rPr>
              <a:t>开题报告  ·  2026.05</a:t>
            </a:r>
            <a:endParaRPr sz="1100" b="0">
              <a:solidFill>
                <a:srgbClr val="555555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2011680" cy="1463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0" b="1" i="0">
                <a:solidFill>
                  <a:srgbClr val="C8E6C9"/>
                </a:solidFill>
                <a:latin typeface="Microsoft YaHei" panose="020B0503020204020204" charset="-122"/>
                <a:ea typeface="Microsoft YaHei" panose="020B0503020204020204" charset="-122"/>
              </a:rPr>
              <a:t>01</a:t>
            </a:r>
            <a:endParaRPr sz="11000" b="1" i="0">
              <a:solidFill>
                <a:srgbClr val="C8E6C9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743200" y="2121408"/>
            <a:ext cx="73152" cy="868680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017520" y="2057400"/>
            <a:ext cx="56692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000" b="1" i="0">
                <a:solidFill>
                  <a:srgbClr val="1B5E20"/>
                </a:solidFill>
                <a:latin typeface="Microsoft YaHei" panose="020B0503020204020204" charset="-122"/>
                <a:ea typeface="Microsoft YaHei" panose="020B0503020204020204" charset="-122"/>
              </a:rPr>
              <a:t>研究背景与意义</a:t>
            </a:r>
            <a:endParaRPr sz="4000" b="1" i="0">
              <a:solidFill>
                <a:srgbClr val="1B5E2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017520" y="2697480"/>
            <a:ext cx="56692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 i="1">
                <a:solidFill>
                  <a:srgbClr val="666666"/>
                </a:solidFill>
                <a:latin typeface="Microsoft YaHei" panose="020B0503020204020204" charset="-122"/>
                <a:ea typeface="Microsoft YaHei" panose="020B0503020204020204" charset="-122"/>
              </a:rPr>
              <a:t>Background &amp; Motivation</a:t>
            </a:r>
            <a:endParaRPr sz="1800" b="0" i="1">
              <a:solidFill>
                <a:srgbClr val="666666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0080" y="4503420"/>
            <a:ext cx="78638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Microsoft YaHei" panose="020B0503020204020204" charset="-122"/>
                <a:ea typeface="Microsoft YaHei" panose="020B0503020204020204" charset="-122"/>
              </a:rPr>
              <a:t>漏洞过载环境下，编译器防御机制如何成为系统安全的坚实后盾？</a:t>
            </a:r>
            <a:endParaRPr sz="1200" b="0" i="1">
              <a:solidFill>
                <a:srgbClr val="555555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45720"/>
            <a:ext cx="85039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研究背景与意义 — 漏洞过载与防御底座</a:t>
            </a:r>
            <a:endParaRPr sz="2000" b="1" i="0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4814316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Microsoft YaHei" panose="020B0503020204020204" charset="-122"/>
                <a:ea typeface="Microsoft YaHei" panose="020B0503020204020204" charset="-122"/>
              </a:rPr>
              <a:t>1</a:t>
            </a:r>
            <a:endParaRPr sz="900" b="0" i="0">
              <a:solidFill>
                <a:srgbClr val="666666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20040" y="692912"/>
            <a:ext cx="54864" cy="190500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" y="667512"/>
            <a:ext cx="8375904" cy="241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1B5E20"/>
                </a:solidFill>
                <a:latin typeface="Microsoft YaHei" panose="020B0503020204020204" charset="-122"/>
                <a:ea typeface="Microsoft YaHei" panose="020B0503020204020204" charset="-122"/>
              </a:rPr>
              <a:t>研究背景：漏洞过载环境下，防御机制愈发重要</a:t>
            </a:r>
            <a:endParaRPr sz="1300" b="1" i="0">
              <a:solidFill>
                <a:srgbClr val="1B5E2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pic>
        <p:nvPicPr>
          <p:cNvPr id="8" name="Picture 7" descr="cve_growth.zh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639510"/>
            <a:ext cx="5349240" cy="233082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20040" y="1420054"/>
            <a:ext cx="53492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1">
                <a:solidFill>
                  <a:srgbClr val="666666"/>
                </a:solidFill>
                <a:latin typeface="Microsoft YaHei" panose="020B0503020204020204" charset="-122"/>
                <a:ea typeface="Microsoft YaHei" panose="020B0503020204020204" charset="-122"/>
              </a:rPr>
              <a:t>图 1: 近 10 年 CVE 年度发布数</a:t>
            </a:r>
            <a:endParaRPr sz="1000" b="0" i="1">
              <a:solidFill>
                <a:srgbClr val="666666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870448" y="1051560"/>
            <a:ext cx="2953512" cy="1671066"/>
          </a:xfrm>
          <a:prstGeom prst="rect">
            <a:avLst/>
          </a:prstGeom>
          <a:solidFill>
            <a:srgbClr val="E8F5E9"/>
          </a:solidFill>
          <a:ln w="9525">
            <a:solidFill>
              <a:srgbClr val="1B5E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870448" y="1051560"/>
            <a:ext cx="2953512" cy="4572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07608" y="1161288"/>
            <a:ext cx="267919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B5E20"/>
                </a:solidFill>
                <a:latin typeface="Microsoft YaHei" panose="020B0503020204020204" charset="-122"/>
                <a:ea typeface="Microsoft YaHei" panose="020B0503020204020204" charset="-122"/>
              </a:rPr>
              <a:t>防御机制：重要性愈发显著</a:t>
            </a:r>
            <a:endParaRPr sz="1200" b="1" i="0">
              <a:solidFill>
                <a:srgbClr val="1B5E2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007608" y="1508760"/>
            <a:ext cx="2679192" cy="11681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</a:rPr>
              <a:t>防御机制（栈金丝雀、CFI 等）是软件安全的 "兜底层"——在漏洞</a:t>
            </a:r>
            <a:r>
              <a:rPr sz="1050" b="1" i="0">
                <a:solidFill>
                  <a:srgbClr val="1B5E20"/>
                </a:solidFill>
                <a:latin typeface="Microsoft YaHei" panose="020B0503020204020204" charset="-122"/>
                <a:ea typeface="Microsoft YaHei" panose="020B0503020204020204" charset="-122"/>
              </a:rPr>
              <a:t>被触发时</a:t>
            </a:r>
            <a:r>
              <a:rPr sz="1050" b="0" i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</a:rPr>
              <a:t>, 仍能挡住攻击者拿到控制权。</a:t>
            </a:r>
            <a:endParaRPr sz="1050" b="0" i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870448" y="2887218"/>
            <a:ext cx="2953512" cy="1671066"/>
          </a:xfrm>
          <a:prstGeom prst="rect">
            <a:avLst/>
          </a:prstGeom>
          <a:solidFill>
            <a:srgbClr val="FFF8E1"/>
          </a:solidFill>
          <a:ln w="952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870448" y="2887218"/>
            <a:ext cx="2953512" cy="45720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07608" y="2996946"/>
            <a:ext cx="267919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B5E20"/>
                </a:solidFill>
                <a:latin typeface="Microsoft YaHei" panose="020B0503020204020204" charset="-122"/>
                <a:ea typeface="Microsoft YaHei" panose="020B0503020204020204" charset="-122"/>
              </a:rPr>
              <a:t>漏洞难以根除</a:t>
            </a:r>
            <a:endParaRPr sz="1200" b="1" i="0">
              <a:solidFill>
                <a:srgbClr val="1B5E2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007608" y="3344418"/>
            <a:ext cx="2679192" cy="11681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</a:rPr>
              <a:t>CVE 数量逐年攀升, Google 等大厂已经意识到代码 Bug </a:t>
            </a:r>
            <a:r>
              <a:rPr sz="1050" b="1" i="0">
                <a:solidFill>
                  <a:srgbClr val="C62828"/>
                </a:solidFill>
                <a:latin typeface="Microsoft YaHei" panose="020B0503020204020204" charset="-122"/>
                <a:ea typeface="Microsoft YaHei" panose="020B0503020204020204" charset="-122"/>
              </a:rPr>
              <a:t>不可能被彻底修干净</a:t>
            </a:r>
            <a:r>
              <a:rPr sz="1050" b="0" i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</a:rPr>
              <a:t>。</a:t>
            </a:r>
            <a:endParaRPr sz="1050" b="0" i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20040" y="4814316"/>
            <a:ext cx="8503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1">
                <a:solidFill>
                  <a:srgbClr val="9E9E9E"/>
                </a:solidFill>
                <a:latin typeface="Microsoft YaHei" panose="020B0503020204020204" charset="-122"/>
                <a:ea typeface="Microsoft YaHei" panose="020B0503020204020204" charset="-122"/>
              </a:rPr>
              <a:t>数据来源: NVD · cve.org · JerryGamblin 2024–2025 CVE Data Review</a:t>
            </a:r>
            <a:endParaRPr sz="850" b="0" i="1">
              <a:solidFill>
                <a:srgbClr val="9E9E9E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45720"/>
            <a:ext cx="85039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研究背景与意义 — 防御机制本身也会出错</a:t>
            </a:r>
            <a:endParaRPr sz="2000" b="1" i="0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4814316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Microsoft YaHei" panose="020B0503020204020204" charset="-122"/>
                <a:ea typeface="Microsoft YaHei" panose="020B0503020204020204" charset="-122"/>
              </a:rPr>
              <a:t>2</a:t>
            </a:r>
            <a:endParaRPr sz="900" b="0" i="0">
              <a:solidFill>
                <a:srgbClr val="666666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20040" y="692912"/>
            <a:ext cx="54864" cy="190500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" y="667512"/>
            <a:ext cx="8375904" cy="241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1B5E20"/>
                </a:solidFill>
                <a:latin typeface="Microsoft YaHei" panose="020B0503020204020204" charset="-122"/>
                <a:ea typeface="Microsoft YaHei" panose="020B0503020204020204" charset="-122"/>
              </a:rPr>
              <a:t>现实困境：防御机制本身的脆弱性——栈金丝雀（Canary） 在 AArch64 上失效</a:t>
            </a:r>
            <a:endParaRPr sz="1300" b="1" i="0">
              <a:solidFill>
                <a:srgbClr val="1B5E2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pic>
        <p:nvPicPr>
          <p:cNvPr id="8" name="Picture 7" descr="stack-layout.zh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051560"/>
            <a:ext cx="2834109" cy="352501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11480" y="4613148"/>
            <a:ext cx="2834109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0" i="1">
                <a:solidFill>
                  <a:srgbClr val="666666"/>
                </a:solidFill>
                <a:latin typeface="Microsoft YaHei" panose="020B0503020204020204" charset="-122"/>
                <a:ea typeface="Microsoft YaHei" panose="020B0503020204020204" charset="-122"/>
              </a:rPr>
              <a:t>图 2: AArch64 栈帧布局 (CVE-2023-4039)</a:t>
            </a:r>
            <a:endParaRPr sz="950" b="0" i="1">
              <a:solidFill>
                <a:srgbClr val="666666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474189" y="1051560"/>
            <a:ext cx="5349771" cy="1680210"/>
          </a:xfrm>
          <a:prstGeom prst="rect">
            <a:avLst/>
          </a:prstGeom>
          <a:solidFill>
            <a:srgbClr val="E8F5E9"/>
          </a:solidFill>
          <a:ln w="9525">
            <a:solidFill>
              <a:srgbClr val="1B5E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189" y="1051560"/>
            <a:ext cx="73152" cy="168021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069" y="1143000"/>
            <a:ext cx="507545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B5E20"/>
                </a:solidFill>
                <a:latin typeface="Microsoft YaHei" panose="020B0503020204020204" charset="-122"/>
                <a:ea typeface="Microsoft YaHei" panose="020B0503020204020204" charset="-122"/>
              </a:rPr>
              <a:t>Canary 介绍</a:t>
            </a:r>
            <a:endParaRPr sz="1200" b="1" i="0">
              <a:solidFill>
                <a:srgbClr val="1B5E2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657069" y="1472184"/>
            <a:ext cx="5075451" cy="12230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050" b="0" i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</a:rPr>
              <a:t>编译器在栈帧的</a:t>
            </a:r>
            <a:r>
              <a:rPr sz="1050" b="1" i="0">
                <a:solidFill>
                  <a:srgbClr val="1B5E20"/>
                </a:solidFill>
                <a:latin typeface="Microsoft YaHei" panose="020B0503020204020204" charset="-122"/>
                <a:ea typeface="Microsoft YaHei" panose="020B0503020204020204" charset="-122"/>
              </a:rPr>
              <a:t>缓冲区与返回地址之间</a:t>
            </a:r>
            <a:r>
              <a:rPr sz="1050" b="0" i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</a:rPr>
              <a:t>放置随机值哨兵（金丝雀），以此来保护函数返回地址，阻止栈溢出（Buffer Overflow）攻击。</a:t>
            </a:r>
            <a:endParaRPr sz="1050" b="0" i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</a:endParaRP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200" b="0" i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</a:rPr>
              <a:t>函数返回前检查金丝雀是否被改写, 一旦改写就报错强行终止程序。</a:t>
            </a:r>
            <a:endParaRPr sz="1200" b="0" i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</a:endParaRP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</a:rPr>
              <a:t>主流包管理器在构建官方软件包时，均已</a:t>
            </a:r>
            <a:r>
              <a:rPr sz="1050" b="1" i="0">
                <a:solidFill>
                  <a:srgbClr val="1B5E20"/>
                </a:solidFill>
                <a:latin typeface="Microsoft YaHei" panose="020B0503020204020204" charset="-122"/>
                <a:ea typeface="Microsoft YaHei" panose="020B0503020204020204" charset="-122"/>
              </a:rPr>
              <a:t>默认启用</a:t>
            </a:r>
            <a:r>
              <a:rPr sz="1050" b="0" i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</a:rPr>
              <a:t>栈金丝雀。</a:t>
            </a:r>
            <a:endParaRPr sz="1050" b="0" i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474189" y="2896362"/>
            <a:ext cx="5349771" cy="1680210"/>
          </a:xfrm>
          <a:prstGeom prst="rect">
            <a:avLst/>
          </a:prstGeom>
          <a:solidFill>
            <a:srgbClr val="FFEBEE"/>
          </a:solidFill>
          <a:ln w="9525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74189" y="2896362"/>
            <a:ext cx="73152" cy="168021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069" y="2987802"/>
            <a:ext cx="507545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C62828"/>
                </a:solidFill>
                <a:latin typeface="Microsoft YaHei" panose="020B0503020204020204" charset="-122"/>
                <a:ea typeface="Microsoft YaHei" panose="020B0503020204020204" charset="-122"/>
              </a:rPr>
              <a:t>AArch64 上失效的根因 (CVE-2023-4039)</a:t>
            </a:r>
            <a:endParaRPr sz="1200" b="1" i="0">
              <a:solidFill>
                <a:srgbClr val="C6282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657069" y="3316986"/>
            <a:ext cx="5075451" cy="12230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050" b="0" i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</a:rPr>
              <a:t>GCC 固定把 Canary 放在</a:t>
            </a:r>
            <a:r>
              <a:rPr sz="1050" b="1" i="0">
                <a:solidFill>
                  <a:srgbClr val="C62828"/>
                </a:solidFill>
                <a:latin typeface="Microsoft YaHei" panose="020B0503020204020204" charset="-122"/>
                <a:ea typeface="Microsoft YaHei" panose="020B0503020204020204" charset="-122"/>
              </a:rPr>
              <a:t>局部变量区的最上方</a:t>
            </a:r>
            <a:r>
              <a:rPr sz="1050" b="0" i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</a:rPr>
              <a:t>。</a:t>
            </a:r>
            <a:endParaRPr sz="1050" b="0" i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</a:endParaRP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050" b="0" i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</a:rPr>
              <a:t>但 AArch64 栈帧把变长缓冲区（ VLA） 放在</a:t>
            </a:r>
            <a:r>
              <a:rPr sz="1050" b="1" i="0">
                <a:solidFill>
                  <a:srgbClr val="C62828"/>
                </a:solidFill>
                <a:latin typeface="Microsoft YaHei" panose="020B0503020204020204" charset="-122"/>
                <a:ea typeface="Microsoft YaHei" panose="020B0503020204020204" charset="-122"/>
              </a:rPr>
              <a:t>返回地址之下</a:t>
            </a:r>
            <a:r>
              <a:rPr sz="1050" b="0" i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</a:rPr>
              <a:t>, </a:t>
            </a:r>
            <a:r>
              <a:rPr sz="1050" b="1" i="0">
                <a:solidFill>
                  <a:srgbClr val="C62828"/>
                </a:solidFill>
                <a:latin typeface="Microsoft YaHei" panose="020B0503020204020204" charset="-122"/>
                <a:ea typeface="Microsoft YaHei" panose="020B0503020204020204" charset="-122"/>
              </a:rPr>
              <a:t>金丝雀</a:t>
            </a:r>
            <a:r>
              <a:rPr sz="1050" b="0" i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</a:rPr>
              <a:t>被</a:t>
            </a:r>
            <a:r>
              <a:rPr sz="1050" b="1" i="0">
                <a:solidFill>
                  <a:srgbClr val="C62828"/>
                </a:solidFill>
                <a:latin typeface="Microsoft YaHei" panose="020B0503020204020204" charset="-122"/>
                <a:ea typeface="Microsoft YaHei" panose="020B0503020204020204" charset="-122"/>
              </a:rPr>
              <a:t>绕开</a:t>
            </a:r>
            <a:r>
              <a:rPr sz="1050" b="0" i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</a:rPr>
              <a:t>。</a:t>
            </a:r>
            <a:endParaRPr sz="1050" b="0" i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</a:endParaRP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</a:rPr>
              <a:t>也就是说，防御机制的代码实现会与指令集架构（ISA）的设计出现冲突从而</a:t>
            </a:r>
            <a:r>
              <a:rPr sz="1050" b="1" i="0">
                <a:solidFill>
                  <a:srgbClr val="C62828"/>
                </a:solidFill>
                <a:latin typeface="Microsoft YaHei" panose="020B0503020204020204" charset="-122"/>
                <a:ea typeface="Microsoft YaHei" panose="020B0503020204020204" charset="-122"/>
              </a:rPr>
              <a:t>失效</a:t>
            </a:r>
            <a:r>
              <a:rPr sz="1050" b="0" i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</a:rPr>
              <a:t>。</a:t>
            </a:r>
            <a:endParaRPr sz="1050" b="0" i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20040" y="4814316"/>
            <a:ext cx="8503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1">
                <a:solidFill>
                  <a:srgbClr val="9E9E9E"/>
                </a:solidFill>
                <a:latin typeface="Microsoft YaHei" panose="020B0503020204020204" charset="-122"/>
                <a:ea typeface="Microsoft YaHei" panose="020B0503020204020204" charset="-122"/>
              </a:rPr>
              <a:t>这种失效具有破坏性的“双重无声”特征：编译不报错，运行也不异常。直到 2023 年才被外部发现。</a:t>
            </a:r>
            <a:endParaRPr sz="850" b="0" i="1">
              <a:solidFill>
                <a:srgbClr val="9E9E9E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45720"/>
            <a:ext cx="85039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研究背景与意义 — 核心挑战</a:t>
            </a:r>
            <a:endParaRPr sz="2000" b="1" i="0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4814316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Microsoft YaHei" panose="020B0503020204020204" charset="-122"/>
                <a:ea typeface="Microsoft YaHei" panose="020B0503020204020204" charset="-122"/>
              </a:rPr>
              <a:t>3</a:t>
            </a:r>
            <a:endParaRPr sz="900" b="0" i="0">
              <a:solidFill>
                <a:srgbClr val="666666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20040" y="692912"/>
            <a:ext cx="54864" cy="190500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" y="667512"/>
            <a:ext cx="8375904" cy="241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1B5E20"/>
                </a:solidFill>
                <a:latin typeface="Microsoft YaHei" panose="020B0503020204020204" charset="-122"/>
                <a:ea typeface="Microsoft YaHei" panose="020B0503020204020204" charset="-122"/>
              </a:rPr>
              <a:t>核心挑战：为何现有的检测工具行不通？</a:t>
            </a:r>
            <a:endParaRPr sz="1300" b="1" i="0">
              <a:solidFill>
                <a:srgbClr val="1B5E2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pic>
        <p:nvPicPr>
          <p:cNvPr id="8" name="Picture 7" descr="defense-matrix.zh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339555"/>
            <a:ext cx="4572000" cy="229979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20040" y="3675929"/>
            <a:ext cx="4572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0" i="1">
                <a:solidFill>
                  <a:srgbClr val="666666"/>
                </a:solidFill>
                <a:latin typeface="Microsoft YaHei" panose="020B0503020204020204" charset="-122"/>
                <a:ea typeface="Microsoft YaHei" panose="020B0503020204020204" charset="-122"/>
              </a:rPr>
              <a:t>图 3: 防御机制 × ISA 矩阵与漏洞上报情况</a:t>
            </a:r>
            <a:endParaRPr sz="950" b="0" i="1">
              <a:solidFill>
                <a:srgbClr val="666666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120640" y="1051560"/>
            <a:ext cx="3703320" cy="1474470"/>
          </a:xfrm>
          <a:prstGeom prst="rect">
            <a:avLst/>
          </a:prstGeom>
          <a:solidFill>
            <a:srgbClr val="E8F5E9"/>
          </a:solidFill>
          <a:ln w="9525">
            <a:solidFill>
              <a:srgbClr val="1B5E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120640" y="1051560"/>
            <a:ext cx="73152" cy="147447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0" y="1143000"/>
            <a:ext cx="3429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B5E20"/>
                </a:solidFill>
                <a:latin typeface="Microsoft YaHei" panose="020B0503020204020204" charset="-122"/>
                <a:ea typeface="Microsoft YaHei" panose="020B0503020204020204" charset="-122"/>
              </a:rPr>
              <a:t>问题空间巨大：机制与架构的组合爆炸</a:t>
            </a:r>
            <a:endParaRPr sz="1200" b="1" i="0">
              <a:solidFill>
                <a:srgbClr val="1B5E2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303520" y="1472184"/>
            <a:ext cx="3429000" cy="10172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050" b="0" i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</a:rPr>
              <a:t>防御机制和 ISA 种类多，且越来越多。</a:t>
            </a:r>
            <a:endParaRPr sz="1050" b="0" i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</a:endParaRP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</a:rPr>
              <a:t>“防御机制 × ISA”的二维空间十分庞大，且结合起来逻辑复杂，人工审计难以覆盖。</a:t>
            </a:r>
            <a:endParaRPr sz="1050" b="0" i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120640" y="2690622"/>
            <a:ext cx="3703320" cy="1474470"/>
          </a:xfrm>
          <a:prstGeom prst="rect">
            <a:avLst/>
          </a:prstGeom>
          <a:solidFill>
            <a:srgbClr val="FFEBEE"/>
          </a:solidFill>
          <a:ln w="9525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120640" y="2690622"/>
            <a:ext cx="73152" cy="147447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0" y="2782062"/>
            <a:ext cx="3429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C62828"/>
                </a:solidFill>
                <a:latin typeface="Microsoft YaHei" panose="020B0503020204020204" charset="-122"/>
                <a:ea typeface="Microsoft YaHei" panose="020B0503020204020204" charset="-122"/>
              </a:rPr>
              <a:t>判定空白 (Oracle 难题)：如何察觉静默失效？</a:t>
            </a:r>
            <a:endParaRPr sz="1200" b="1" i="0">
              <a:solidFill>
                <a:srgbClr val="C6282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303520" y="3111246"/>
            <a:ext cx="3429000" cy="10172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</a:rPr>
              <a:t>程序</a:t>
            </a:r>
            <a:r>
              <a:rPr sz="1050" b="1" i="0">
                <a:solidFill>
                  <a:srgbClr val="C62828"/>
                </a:solidFill>
                <a:latin typeface="Microsoft YaHei" panose="020B0503020204020204" charset="-122"/>
                <a:ea typeface="Microsoft YaHei" panose="020B0503020204020204" charset="-122"/>
              </a:rPr>
              <a:t>不崩溃</a:t>
            </a:r>
            <a:r>
              <a:rPr sz="1050" b="0" i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</a:rPr>
              <a:t>，功能也</a:t>
            </a:r>
            <a:r>
              <a:rPr sz="1050" b="1" i="0">
                <a:solidFill>
                  <a:srgbClr val="C62828"/>
                </a:solidFill>
                <a:latin typeface="Microsoft YaHei" panose="020B0503020204020204" charset="-122"/>
                <a:ea typeface="Microsoft YaHei" panose="020B0503020204020204" charset="-122"/>
              </a:rPr>
              <a:t>正常</a:t>
            </a:r>
            <a:r>
              <a:rPr sz="1050" b="0" i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</a:rPr>
              <a:t>，但安全契约已经</a:t>
            </a:r>
            <a:r>
              <a:rPr sz="1050" b="1" i="0">
                <a:solidFill>
                  <a:srgbClr val="C62828"/>
                </a:solidFill>
                <a:latin typeface="Microsoft YaHei" panose="020B0503020204020204" charset="-122"/>
                <a:ea typeface="Microsoft YaHei" panose="020B0503020204020204" charset="-122"/>
              </a:rPr>
              <a:t>失守</a:t>
            </a:r>
            <a:r>
              <a:rPr sz="1050" b="0" i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</a:rPr>
              <a:t>。传统的漏洞挖掘方法对此</a:t>
            </a:r>
            <a:r>
              <a:rPr sz="1050" b="1" i="0">
                <a:solidFill>
                  <a:srgbClr val="C62828"/>
                </a:solidFill>
                <a:latin typeface="Microsoft YaHei" panose="020B0503020204020204" charset="-122"/>
                <a:ea typeface="Microsoft YaHei" panose="020B0503020204020204" charset="-122"/>
              </a:rPr>
              <a:t>毫无察觉</a:t>
            </a:r>
            <a:r>
              <a:rPr sz="1050" b="0" i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</a:rPr>
              <a:t>。</a:t>
            </a:r>
            <a:endParaRPr sz="1050" b="0" i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20040" y="4530852"/>
            <a:ext cx="8503920" cy="502920"/>
          </a:xfrm>
          <a:prstGeom prst="rect">
            <a:avLst/>
          </a:prstGeom>
          <a:solidFill>
            <a:srgbClr val="FFF8E1"/>
          </a:solidFill>
          <a:ln w="952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4530852"/>
            <a:ext cx="73152" cy="502920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576572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B5E20"/>
                </a:solidFill>
                <a:latin typeface="Microsoft YaHei" panose="020B0503020204020204" charset="-122"/>
                <a:ea typeface="Microsoft YaHei" panose="020B0503020204020204" charset="-122"/>
              </a:rPr>
              <a:t>注</a:t>
            </a:r>
            <a:endParaRPr sz="1100" b="1" i="0">
              <a:solidFill>
                <a:srgbClr val="1B5E2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02920" y="4805172"/>
            <a:ext cx="822960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</a:rPr>
              <a:t>深绿色的格点均存在通过本课题挖掘，且已上报且被 GCC 官方确认/修复的漏洞。</a:t>
            </a:r>
            <a:endParaRPr sz="1000" b="0" i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2011680" cy="1463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0" b="1" i="0">
                <a:solidFill>
                  <a:srgbClr val="C8E6C9"/>
                </a:solidFill>
                <a:latin typeface="Microsoft YaHei" panose="020B0503020204020204" charset="-122"/>
                <a:ea typeface="Microsoft YaHei" panose="020B0503020204020204" charset="-122"/>
              </a:rPr>
              <a:t>02</a:t>
            </a:r>
            <a:endParaRPr sz="11000" b="1" i="0">
              <a:solidFill>
                <a:srgbClr val="C8E6C9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743200" y="2121408"/>
            <a:ext cx="73152" cy="868680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017520" y="2057400"/>
            <a:ext cx="56692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000" b="1" i="0">
                <a:solidFill>
                  <a:srgbClr val="1B5E20"/>
                </a:solidFill>
                <a:latin typeface="Microsoft YaHei" panose="020B0503020204020204" charset="-122"/>
                <a:ea typeface="Microsoft YaHei" panose="020B0503020204020204" charset="-122"/>
              </a:rPr>
              <a:t>研究现状</a:t>
            </a:r>
            <a:endParaRPr sz="4000" b="1" i="0">
              <a:solidFill>
                <a:srgbClr val="1B5E2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017520" y="2697480"/>
            <a:ext cx="56692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 i="1">
                <a:solidFill>
                  <a:srgbClr val="666666"/>
                </a:solidFill>
                <a:latin typeface="Microsoft YaHei" panose="020B0503020204020204" charset="-122"/>
                <a:ea typeface="Microsoft YaHei" panose="020B0503020204020204" charset="-122"/>
              </a:rPr>
              <a:t>Related Work</a:t>
            </a:r>
            <a:endParaRPr sz="1800" b="0" i="1">
              <a:solidFill>
                <a:srgbClr val="666666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0080" y="4503420"/>
            <a:ext cx="78638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Microsoft YaHei" panose="020B0503020204020204" charset="-122"/>
                <a:ea typeface="Microsoft YaHei" panose="020B0503020204020204" charset="-122"/>
              </a:rPr>
              <a:t>静态分析与现有 Fuzz 框架为何在防御机制的静默失效面前集体失灵？</a:t>
            </a:r>
            <a:endParaRPr sz="1200" b="0" i="1">
              <a:solidFill>
                <a:srgbClr val="555555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45720"/>
            <a:ext cx="85039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研究现状 — 现有检测手段的局限</a:t>
            </a:r>
            <a:endParaRPr sz="2000" b="1" i="0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4814316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Microsoft YaHei" panose="020B0503020204020204" charset="-122"/>
                <a:ea typeface="Microsoft YaHei" panose="020B0503020204020204" charset="-122"/>
              </a:rPr>
              <a:t>4</a:t>
            </a:r>
            <a:endParaRPr sz="900" b="0" i="0">
              <a:solidFill>
                <a:srgbClr val="666666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20040" y="692912"/>
            <a:ext cx="54864" cy="190500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" y="667512"/>
            <a:ext cx="8375904" cy="241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1B5E20"/>
                </a:solidFill>
                <a:latin typeface="Microsoft YaHei" panose="020B0503020204020204" charset="-122"/>
                <a:ea typeface="Microsoft YaHei" panose="020B0503020204020204" charset="-122"/>
              </a:rPr>
              <a:t>研究现状：现有自动化方法为何集体失灵？</a:t>
            </a:r>
            <a:endParaRPr sz="1300" b="1" i="0">
              <a:solidFill>
                <a:srgbClr val="1B5E2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20040" y="1051560"/>
            <a:ext cx="3108960" cy="3022092"/>
          </a:xfrm>
          <a:prstGeom prst="rect">
            <a:avLst/>
          </a:prstGeom>
          <a:solidFill>
            <a:srgbClr val="FFEBEE"/>
          </a:solidFill>
          <a:ln w="9525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051560"/>
            <a:ext cx="3108960" cy="4572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" y="1188720"/>
            <a:ext cx="277977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C62828"/>
                </a:solidFill>
                <a:latin typeface="Microsoft YaHei" panose="020B0503020204020204" charset="-122"/>
                <a:ea typeface="Microsoft YaHei" panose="020B0503020204020204" charset="-122"/>
              </a:rPr>
              <a:t>静态分析：难以应对的多样性</a:t>
            </a:r>
            <a:endParaRPr sz="1300" b="1" i="0">
              <a:solidFill>
                <a:srgbClr val="C6282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84632" y="1554480"/>
            <a:ext cx="2779776" cy="24277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050" b="0" i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</a:rPr>
              <a:t>传统静态分析通过确定的代码</a:t>
            </a:r>
            <a:r>
              <a:rPr sz="1050" b="1" i="0">
                <a:solidFill>
                  <a:srgbClr val="C62828"/>
                </a:solidFill>
                <a:latin typeface="Microsoft YaHei" panose="020B0503020204020204" charset="-122"/>
                <a:ea typeface="Microsoft YaHei" panose="020B0503020204020204" charset="-122"/>
              </a:rPr>
              <a:t>模式</a:t>
            </a:r>
            <a:r>
              <a:rPr sz="1050" b="0" i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</a:rPr>
              <a:t>去搜索海量的代码空间，从而发现同类漏洞。</a:t>
            </a:r>
            <a:endParaRPr sz="1050" b="0" i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</a:endParaRP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050" b="0" i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</a:rPr>
              <a:t>但防御机制失效的形态千奇百怪，大多数案例都有自己</a:t>
            </a:r>
            <a:r>
              <a:rPr sz="1050" b="1" i="0">
                <a:solidFill>
                  <a:srgbClr val="C62828"/>
                </a:solidFill>
                <a:latin typeface="Microsoft YaHei" panose="020B0503020204020204" charset="-122"/>
                <a:ea typeface="Microsoft YaHei" panose="020B0503020204020204" charset="-122"/>
              </a:rPr>
              <a:t>独特的模式</a:t>
            </a:r>
            <a:r>
              <a:rPr sz="1050" b="0" i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</a:rPr>
              <a:t>，静态分析难以进行。</a:t>
            </a:r>
            <a:endParaRPr sz="1050" b="0" i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</a:endParaRPr>
          </a:p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</a:rPr>
              <a:t>因此本课题采用动态</a:t>
            </a:r>
            <a:r>
              <a:rPr sz="1050" b="1" i="0">
                <a:solidFill>
                  <a:srgbClr val="1B5E20"/>
                </a:solidFill>
                <a:latin typeface="Microsoft YaHei" panose="020B0503020204020204" charset="-122"/>
                <a:ea typeface="Microsoft YaHei" panose="020B0503020204020204" charset="-122"/>
              </a:rPr>
              <a:t>模糊测试</a:t>
            </a:r>
            <a:r>
              <a:rPr sz="1050" b="0" i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</a:rPr>
              <a:t>（Fuzz）的方案。</a:t>
            </a:r>
            <a:endParaRPr sz="1050" b="0" i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630168" y="1051560"/>
            <a:ext cx="5193792" cy="1442466"/>
          </a:xfrm>
          <a:prstGeom prst="rect">
            <a:avLst/>
          </a:prstGeom>
          <a:solidFill>
            <a:srgbClr val="E8F5E9"/>
          </a:solidFill>
          <a:ln w="9525">
            <a:solidFill>
              <a:srgbClr val="1B5E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30168" y="1051560"/>
            <a:ext cx="73152" cy="1442466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13048" y="1143000"/>
            <a:ext cx="49194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B5E20"/>
                </a:solidFill>
                <a:latin typeface="Microsoft YaHei" panose="020B0503020204020204" charset="-122"/>
                <a:ea typeface="Microsoft YaHei" panose="020B0503020204020204" charset="-122"/>
              </a:rPr>
              <a:t>WhiteFox</a:t>
            </a:r>
            <a:r>
              <a:rPr sz="1000" b="0" i="1">
                <a:solidFill>
                  <a:srgbClr val="666666"/>
                </a:solidFill>
                <a:latin typeface="Microsoft YaHei" panose="020B0503020204020204" charset="-122"/>
                <a:ea typeface="Microsoft YaHei" panose="020B0503020204020204" charset="-122"/>
              </a:rPr>
              <a:t>  · OSDI'24 </a:t>
            </a:r>
            <a:endParaRPr sz="1000" b="0" i="1">
              <a:solidFill>
                <a:srgbClr val="666666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813048" y="1472184"/>
            <a:ext cx="4919472" cy="9852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00" b="0" i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</a:rPr>
              <a:t>种子生成：用 LLM 归纳函数的代码模式，根据模式生成种子。</a:t>
            </a:r>
            <a:endParaRPr sz="1000" b="0" i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</a:endParaRP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</a:rPr>
              <a:t>预言机：常规的编译器崩溃或误编译，并不关心安全契约。</a:t>
            </a:r>
            <a:endParaRPr sz="1000" b="0" i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630168" y="2631186"/>
            <a:ext cx="5193792" cy="1442466"/>
          </a:xfrm>
          <a:prstGeom prst="rect">
            <a:avLst/>
          </a:prstGeom>
          <a:solidFill>
            <a:srgbClr val="E8F5E9"/>
          </a:solidFill>
          <a:ln w="9525">
            <a:solidFill>
              <a:srgbClr val="1B5E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30168" y="2631186"/>
            <a:ext cx="73152" cy="1442466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13048" y="2722626"/>
            <a:ext cx="49194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B5E20"/>
                </a:solidFill>
                <a:latin typeface="Microsoft YaHei" panose="020B0503020204020204" charset="-122"/>
                <a:ea typeface="Microsoft YaHei" panose="020B0503020204020204" charset="-122"/>
              </a:rPr>
              <a:t>HLPFuzz</a:t>
            </a:r>
            <a:r>
              <a:rPr sz="1000" b="0" i="1">
                <a:solidFill>
                  <a:srgbClr val="666666"/>
                </a:solidFill>
                <a:latin typeface="Microsoft YaHei" panose="020B0503020204020204" charset="-122"/>
                <a:ea typeface="Microsoft YaHei" panose="020B0503020204020204" charset="-122"/>
              </a:rPr>
              <a:t>  · USENIX Sec'25 </a:t>
            </a:r>
            <a:endParaRPr sz="1000" b="0" i="1">
              <a:solidFill>
                <a:srgbClr val="666666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813048" y="3051810"/>
            <a:ext cx="4919472" cy="9852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00" b="0" i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</a:rPr>
              <a:t>种子生成：LLM 驱动的渐进式约束求解，选定未覆盖的基本块，LLM 生成覆盖该基本块的种子。</a:t>
            </a:r>
            <a:endParaRPr sz="1000" b="0" i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</a:endParaRP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</a:rPr>
              <a:t>预言机：常规的编译器崩溃，并不关心安全契约。</a:t>
            </a:r>
            <a:endParaRPr sz="1000" b="0" i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20040" y="4439412"/>
            <a:ext cx="8503920" cy="594360"/>
          </a:xfrm>
          <a:prstGeom prst="rect">
            <a:avLst/>
          </a:prstGeom>
          <a:solidFill>
            <a:srgbClr val="FFF8E1"/>
          </a:solidFill>
          <a:ln w="952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4439412"/>
            <a:ext cx="73152" cy="594360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485132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B5E20"/>
                </a:solidFill>
                <a:latin typeface="Microsoft YaHei" panose="020B0503020204020204" charset="-122"/>
                <a:ea typeface="Microsoft YaHei" panose="020B0503020204020204" charset="-122"/>
              </a:rPr>
              <a:t>Oracle 空白</a:t>
            </a:r>
            <a:endParaRPr sz="1100" b="1" i="0">
              <a:solidFill>
                <a:srgbClr val="1B5E2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02920" y="4732020"/>
            <a:ext cx="822960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</a:rPr>
              <a:t>现有的编译器崩溃、差分预言机面对变异</a:t>
            </a:r>
            <a:r>
              <a:rPr sz="1000" b="1" i="0">
                <a:solidFill>
                  <a:srgbClr val="C62828"/>
                </a:solidFill>
                <a:latin typeface="Microsoft YaHei" panose="020B0503020204020204" charset="-122"/>
                <a:ea typeface="Microsoft YaHei" panose="020B0503020204020204" charset="-122"/>
              </a:rPr>
              <a:t>不报错、正常运行</a:t>
            </a:r>
            <a:r>
              <a:rPr sz="1000" b="0" i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</a:rPr>
              <a:t>的安全机制静默失效束手无策。</a:t>
            </a:r>
            <a:endParaRPr sz="1000" b="0" i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2011680" cy="1463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0" b="1" i="0">
                <a:solidFill>
                  <a:srgbClr val="C8E6C9"/>
                </a:solidFill>
                <a:latin typeface="Microsoft YaHei" panose="020B0503020204020204" charset="-122"/>
                <a:ea typeface="Microsoft YaHei" panose="020B0503020204020204" charset="-122"/>
              </a:rPr>
              <a:t>03</a:t>
            </a:r>
            <a:endParaRPr sz="11000" b="1" i="0">
              <a:solidFill>
                <a:srgbClr val="C8E6C9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743200" y="2121408"/>
            <a:ext cx="73152" cy="868680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017520" y="2057400"/>
            <a:ext cx="56692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000" b="1" i="0">
                <a:solidFill>
                  <a:srgbClr val="1B5E20"/>
                </a:solidFill>
                <a:latin typeface="Microsoft YaHei" panose="020B0503020204020204" charset="-122"/>
                <a:ea typeface="Microsoft YaHei" panose="020B0503020204020204" charset="-122"/>
              </a:rPr>
              <a:t>研究目标与内容</a:t>
            </a:r>
            <a:endParaRPr sz="4000" b="1" i="0">
              <a:solidFill>
                <a:srgbClr val="1B5E2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017520" y="2697480"/>
            <a:ext cx="56692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 i="1">
                <a:solidFill>
                  <a:srgbClr val="666666"/>
                </a:solidFill>
                <a:latin typeface="Microsoft YaHei" panose="020B0503020204020204" charset="-122"/>
                <a:ea typeface="Microsoft YaHei" panose="020B0503020204020204" charset="-122"/>
              </a:rPr>
              <a:t>Goals &amp; Content</a:t>
            </a:r>
            <a:endParaRPr sz="1800" b="0" i="1">
              <a:solidFill>
                <a:srgbClr val="666666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0080" y="4503420"/>
            <a:ext cx="78638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Microsoft YaHei" panose="020B0503020204020204" charset="-122"/>
                <a:ea typeface="Microsoft YaHei" panose="020B0503020204020204" charset="-122"/>
              </a:rPr>
              <a:t>核心目标：精准捕获“静默失效”；研究内容：构建从不变量到预言机的自动化检测链路。</a:t>
            </a:r>
            <a:endParaRPr sz="1200" b="0" i="1">
              <a:solidFill>
                <a:srgbClr val="555555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45720"/>
            <a:ext cx="85039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研究目标与内容 — 研究内容</a:t>
            </a:r>
            <a:endParaRPr sz="2000" b="1" i="0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4814316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Microsoft YaHei" panose="020B0503020204020204" charset="-122"/>
                <a:ea typeface="Microsoft YaHei" panose="020B0503020204020204" charset="-122"/>
              </a:rPr>
              <a:t>5</a:t>
            </a:r>
            <a:endParaRPr sz="900" b="0" i="0">
              <a:solidFill>
                <a:srgbClr val="666666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20040" y="692912"/>
            <a:ext cx="54864" cy="190500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" y="667512"/>
            <a:ext cx="8375904" cy="241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1B5E20"/>
                </a:solidFill>
                <a:latin typeface="Microsoft YaHei" panose="020B0503020204020204" charset="-122"/>
                <a:ea typeface="Microsoft YaHei" panose="020B0503020204020204" charset="-122"/>
              </a:rPr>
              <a:t>研究内容：从安全契约到自动化模糊测试引擎</a:t>
            </a:r>
            <a:endParaRPr sz="1300" b="1" i="0">
              <a:solidFill>
                <a:srgbClr val="1B5E2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pic>
        <p:nvPicPr>
          <p:cNvPr id="8" name="Picture 7" descr="pipeline.zh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078992"/>
            <a:ext cx="7680960" cy="176290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2860181"/>
            <a:ext cx="7680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1">
                <a:solidFill>
                  <a:srgbClr val="666666"/>
                </a:solidFill>
                <a:latin typeface="Microsoft YaHei" panose="020B0503020204020204" charset="-122"/>
                <a:ea typeface="Microsoft YaHei" panose="020B0503020204020204" charset="-122"/>
              </a:rPr>
              <a:t>图 4:  研究目标与内容</a:t>
            </a:r>
            <a:endParaRPr sz="900" b="0" i="1">
              <a:solidFill>
                <a:srgbClr val="666666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20040" y="3134501"/>
            <a:ext cx="2724912" cy="1844407"/>
          </a:xfrm>
          <a:prstGeom prst="rect">
            <a:avLst/>
          </a:prstGeom>
          <a:solidFill>
            <a:srgbClr val="E8F5E9"/>
          </a:solidFill>
          <a:ln w="9525">
            <a:solidFill>
              <a:srgbClr val="1B5E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3134501"/>
            <a:ext cx="2724912" cy="4572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" y="3244229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1B5E20"/>
                </a:solidFill>
                <a:latin typeface="Microsoft YaHei" panose="020B0503020204020204" charset="-122"/>
                <a:ea typeface="Microsoft YaHei" panose="020B0503020204020204" charset="-122"/>
              </a:rPr>
              <a:t>①</a:t>
            </a:r>
            <a:endParaRPr sz="2000" b="1" i="0">
              <a:solidFill>
                <a:srgbClr val="1B5E2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50392" y="3280805"/>
            <a:ext cx="208483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1B5E20"/>
                </a:solidFill>
                <a:latin typeface="Microsoft YaHei" panose="020B0503020204020204" charset="-122"/>
                <a:ea typeface="Microsoft YaHei" panose="020B0503020204020204" charset="-122"/>
              </a:rPr>
              <a:t>提炼安全不变量（安全契约）</a:t>
            </a:r>
            <a:endParaRPr sz="1200" b="1" i="0">
              <a:solidFill>
                <a:srgbClr val="1B5E2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84632" y="3701429"/>
            <a:ext cx="2395728" cy="1204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950" b="0" i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</a:rPr>
              <a:t>• 对主流防御机制分别进行调研，产出一套跨 ISA 的安全契约。</a:t>
            </a:r>
            <a:endParaRPr sz="950" b="0" i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209544" y="3134501"/>
            <a:ext cx="2724912" cy="1844407"/>
          </a:xfrm>
          <a:prstGeom prst="rect">
            <a:avLst/>
          </a:prstGeom>
          <a:solidFill>
            <a:srgbClr val="E3F2FD"/>
          </a:solidFill>
          <a:ln w="9525">
            <a:solidFill>
              <a:srgbClr val="1565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9544" y="3134501"/>
            <a:ext cx="2724912" cy="4572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55848" y="3244229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1565C0"/>
                </a:solidFill>
                <a:latin typeface="Microsoft YaHei" panose="020B0503020204020204" charset="-122"/>
                <a:ea typeface="Microsoft YaHei" panose="020B0503020204020204" charset="-122"/>
              </a:rPr>
              <a:t>②</a:t>
            </a:r>
            <a:endParaRPr sz="2000" b="1" i="0">
              <a:solidFill>
                <a:srgbClr val="1565C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739896" y="3280805"/>
            <a:ext cx="208483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1565C0"/>
                </a:solidFill>
                <a:latin typeface="Microsoft YaHei" panose="020B0503020204020204" charset="-122"/>
                <a:ea typeface="Microsoft YaHei" panose="020B0503020204020204" charset="-122"/>
              </a:rPr>
              <a:t>将不变量转化为可执行预言机</a:t>
            </a:r>
            <a:endParaRPr sz="1200" b="1" i="0">
              <a:solidFill>
                <a:srgbClr val="1565C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374136" y="3701429"/>
            <a:ext cx="2395728" cy="1204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950" b="0" i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</a:rPr>
              <a:t>• 根据不变量的品相，实现为程序化的，静态检测或动态运行的检查器。</a:t>
            </a:r>
            <a:endParaRPr sz="950" b="0" i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950" b="0" i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</a:rPr>
              <a:t>• 任意检查器断言失败，即判定为漏洞。</a:t>
            </a:r>
            <a:endParaRPr sz="950" b="0" i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099048" y="3134501"/>
            <a:ext cx="2724912" cy="1844407"/>
          </a:xfrm>
          <a:prstGeom prst="rect">
            <a:avLst/>
          </a:prstGeom>
          <a:solidFill>
            <a:srgbClr val="FFF8E1"/>
          </a:solidFill>
          <a:ln w="952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99048" y="3134501"/>
            <a:ext cx="2724912" cy="45720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45352" y="3244229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1B5E20"/>
                </a:solidFill>
                <a:latin typeface="Microsoft YaHei" panose="020B0503020204020204" charset="-122"/>
                <a:ea typeface="Microsoft YaHei" panose="020B0503020204020204" charset="-122"/>
              </a:rPr>
              <a:t>③</a:t>
            </a:r>
            <a:endParaRPr sz="2000" b="1" i="0">
              <a:solidFill>
                <a:srgbClr val="1B5E2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629400" y="3280805"/>
            <a:ext cx="208483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1B5E20"/>
                </a:solidFill>
                <a:latin typeface="Microsoft YaHei" panose="020B0503020204020204" charset="-122"/>
                <a:ea typeface="Microsoft YaHei" panose="020B0503020204020204" charset="-122"/>
              </a:rPr>
              <a:t>LLM 与覆盖率驱动的主循环</a:t>
            </a:r>
            <a:endParaRPr sz="1200" b="1" i="0">
              <a:solidFill>
                <a:srgbClr val="1B5E2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263640" y="3701429"/>
            <a:ext cx="2395728" cy="1204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950" b="0" i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</a:rPr>
              <a:t>• 通过防御机制相关代码的覆盖率来保证种子多样性</a:t>
            </a:r>
            <a:endParaRPr sz="950" b="0" i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950" b="0" i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</a:rPr>
              <a:t>• 将种子的多样性 与 预言机的健壮性 做乘法</a:t>
            </a:r>
            <a:endParaRPr sz="950" b="0" i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2011680" cy="1463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0" b="1" i="0">
                <a:solidFill>
                  <a:srgbClr val="C8E6C9"/>
                </a:solidFill>
                <a:latin typeface="Microsoft YaHei" panose="020B0503020204020204" charset="-122"/>
                <a:ea typeface="Microsoft YaHei" panose="020B0503020204020204" charset="-122"/>
              </a:rPr>
              <a:t>04</a:t>
            </a:r>
            <a:endParaRPr sz="11000" b="1" i="0">
              <a:solidFill>
                <a:srgbClr val="C8E6C9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743200" y="2121408"/>
            <a:ext cx="73152" cy="868680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017520" y="2057400"/>
            <a:ext cx="56692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000" b="1" i="0">
                <a:solidFill>
                  <a:srgbClr val="1B5E20"/>
                </a:solidFill>
                <a:latin typeface="Microsoft YaHei" panose="020B0503020204020204" charset="-122"/>
                <a:ea typeface="Microsoft YaHei" panose="020B0503020204020204" charset="-122"/>
              </a:rPr>
              <a:t>研究方案</a:t>
            </a:r>
            <a:endParaRPr sz="4000" b="1" i="0">
              <a:solidFill>
                <a:srgbClr val="1B5E2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017520" y="2697480"/>
            <a:ext cx="56692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 i="1">
                <a:solidFill>
                  <a:srgbClr val="666666"/>
                </a:solidFill>
                <a:latin typeface="Microsoft YaHei" panose="020B0503020204020204" charset="-122"/>
                <a:ea typeface="Microsoft YaHei" panose="020B0503020204020204" charset="-122"/>
              </a:rPr>
              <a:t>Technical Route</a:t>
            </a:r>
            <a:endParaRPr sz="1800" b="0" i="1">
              <a:solidFill>
                <a:srgbClr val="666666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0080" y="4503420"/>
            <a:ext cx="78638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Microsoft YaHei" panose="020B0503020204020204" charset="-122"/>
                <a:ea typeface="Microsoft YaHei" panose="020B0503020204020204" charset="-122"/>
              </a:rPr>
              <a:t>从总体架构到核心算法：构建基于安全契约的自动化检测系统。</a:t>
            </a:r>
            <a:endParaRPr sz="1200" b="0" i="1">
              <a:solidFill>
                <a:srgbClr val="555555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45720"/>
            <a:ext cx="85039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研究方案 — 总体架构</a:t>
            </a:r>
            <a:endParaRPr sz="2000" b="1" i="0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4814316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Microsoft YaHei" panose="020B0503020204020204" charset="-122"/>
                <a:ea typeface="Microsoft YaHei" panose="020B0503020204020204" charset="-122"/>
              </a:rPr>
              <a:t>6</a:t>
            </a:r>
            <a:endParaRPr sz="900" b="0" i="0">
              <a:solidFill>
                <a:srgbClr val="666666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20040" y="692912"/>
            <a:ext cx="54864" cy="190500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" y="667512"/>
            <a:ext cx="8375904" cy="241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1B5E20"/>
                </a:solidFill>
                <a:latin typeface="Microsoft YaHei" panose="020B0503020204020204" charset="-122"/>
                <a:ea typeface="Microsoft YaHei" panose="020B0503020204020204" charset="-122"/>
              </a:rPr>
              <a:t>总体架构：模块化设计与协同逻辑</a:t>
            </a:r>
            <a:endParaRPr sz="1300" b="1" i="0">
              <a:solidFill>
                <a:srgbClr val="1B5E2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pic>
        <p:nvPicPr>
          <p:cNvPr id="8" name="Picture 7" descr="architecture.zh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0" y="1106424"/>
            <a:ext cx="5120640" cy="248093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011680" y="3623930"/>
            <a:ext cx="5120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0" i="1">
                <a:solidFill>
                  <a:srgbClr val="666666"/>
                </a:solidFill>
                <a:latin typeface="Microsoft YaHei" panose="020B0503020204020204" charset="-122"/>
                <a:ea typeface="Microsoft YaHei" panose="020B0503020204020204" charset="-122"/>
              </a:rPr>
              <a:t>图 5: 总体架构 — 子系统分工</a:t>
            </a:r>
            <a:endParaRPr sz="950" b="0" i="1">
              <a:solidFill>
                <a:srgbClr val="666666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20040" y="3898250"/>
            <a:ext cx="8503920" cy="1098946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" y="3953114"/>
            <a:ext cx="8174736" cy="9892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0" i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</a:rPr>
              <a:t>• Fuzz 引擎: 主循环调度 + 提示词组装</a:t>
            </a:r>
            <a:endParaRPr sz="1000" b="0" i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0" i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</a:rPr>
              <a:t>• 编译器子系统: 封装插桩 GCC / LLVM, 统一「行级覆盖 → 种子 ID」映射</a:t>
            </a:r>
            <a:endParaRPr sz="1000" b="0" i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</a:endParaRPr>
          </a:p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</a:rPr>
              <a:t>• 预言机子系统: 按机制聚合检查器, 输出安全判定; 配置模块按「机制 · ISA · flag」三元组下发任务</a:t>
            </a:r>
            <a:endParaRPr sz="1000" b="0" i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45720"/>
            <a:ext cx="85039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研究方案 — 预言机框架</a:t>
            </a:r>
            <a:endParaRPr sz="2000" b="1" i="0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4814316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Microsoft YaHei" panose="020B0503020204020204" charset="-122"/>
                <a:ea typeface="Microsoft YaHei" panose="020B0503020204020204" charset="-122"/>
              </a:rPr>
              <a:t>7</a:t>
            </a:r>
            <a:endParaRPr sz="900" b="0" i="0">
              <a:solidFill>
                <a:srgbClr val="666666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20040" y="692912"/>
            <a:ext cx="54864" cy="190500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" y="667512"/>
            <a:ext cx="8375904" cy="241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1B5E20"/>
                </a:solidFill>
                <a:latin typeface="Microsoft YaHei" panose="020B0503020204020204" charset="-122"/>
                <a:ea typeface="Microsoft YaHei" panose="020B0503020204020204" charset="-122"/>
              </a:rPr>
              <a:t>预言机框架：静态与动态维度的交叉判定</a:t>
            </a:r>
            <a:endParaRPr sz="1300" b="1" i="0">
              <a:solidFill>
                <a:srgbClr val="1B5E2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pic>
        <p:nvPicPr>
          <p:cNvPr id="8" name="Picture 7" descr="oracle-flow.zh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51560"/>
            <a:ext cx="2424463" cy="31775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4247388"/>
            <a:ext cx="2424463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0" i="1">
                <a:solidFill>
                  <a:srgbClr val="666666"/>
                </a:solidFill>
                <a:latin typeface="Microsoft YaHei" panose="020B0503020204020204" charset="-122"/>
                <a:ea typeface="Microsoft YaHei" panose="020B0503020204020204" charset="-122"/>
              </a:rPr>
              <a:t>图 6: 预言机判定流程</a:t>
            </a:r>
            <a:endParaRPr sz="950" b="0" i="1">
              <a:solidFill>
                <a:srgbClr val="666666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201703" y="1051560"/>
            <a:ext cx="5622257" cy="1506474"/>
          </a:xfrm>
          <a:prstGeom prst="rect">
            <a:avLst/>
          </a:prstGeom>
          <a:solidFill>
            <a:srgbClr val="E3F2FD"/>
          </a:solidFill>
          <a:ln w="9525">
            <a:solidFill>
              <a:srgbClr val="1565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1703" y="1051560"/>
            <a:ext cx="73152" cy="1506474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4583" y="1143000"/>
            <a:ext cx="534793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565C0"/>
                </a:solidFill>
                <a:latin typeface="Microsoft YaHei" panose="020B0503020204020204" charset="-122"/>
                <a:ea typeface="Microsoft YaHei" panose="020B0503020204020204" charset="-122"/>
              </a:rPr>
              <a:t>静态检查器</a:t>
            </a:r>
            <a:endParaRPr sz="1300" b="1" i="0">
              <a:solidFill>
                <a:srgbClr val="1565C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384583" y="1508760"/>
            <a:ext cx="5347937" cy="1003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 i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</a:rPr>
              <a:t>• ELF 符号表检查 (如是否引用 __stack_chk_fail)</a:t>
            </a:r>
            <a:endParaRPr sz="1050" b="0" i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 i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</a:rPr>
              <a:t>• 指令流特征扫描 (如 endbr 指令位置)</a:t>
            </a:r>
            <a:endParaRPr sz="1050" b="0" i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</a:endParaRPr>
          </a:p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</a:rPr>
              <a:t>• .note 段属性检查</a:t>
            </a:r>
            <a:endParaRPr sz="1050" b="0" i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201703" y="2722626"/>
            <a:ext cx="5622257" cy="1506474"/>
          </a:xfrm>
          <a:prstGeom prst="rect">
            <a:avLst/>
          </a:prstGeom>
          <a:solidFill>
            <a:srgbClr val="E8F5E9"/>
          </a:solidFill>
          <a:ln w="9525">
            <a:solidFill>
              <a:srgbClr val="1B5E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1703" y="2722626"/>
            <a:ext cx="73152" cy="1506474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4583" y="2814066"/>
            <a:ext cx="534793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B5E20"/>
                </a:solidFill>
                <a:latin typeface="Microsoft YaHei" panose="020B0503020204020204" charset="-122"/>
                <a:ea typeface="Microsoft YaHei" panose="020B0503020204020204" charset="-122"/>
              </a:rPr>
              <a:t>动态检查器</a:t>
            </a:r>
            <a:endParaRPr sz="1300" b="1" i="0">
              <a:solidFill>
                <a:srgbClr val="1B5E2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384583" y="3179826"/>
            <a:ext cx="5347937" cy="1003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 i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</a:rPr>
              <a:t>• 受控越界写入，观察能否被正常拦截</a:t>
            </a:r>
            <a:endParaRPr sz="1050" b="0" i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 i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</a:rPr>
              <a:t>• 植入汇编探针检测寄存器残留</a:t>
            </a:r>
            <a:endParaRPr sz="1050" b="0" i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</a:endParaRPr>
          </a:p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</a:rPr>
              <a:t>• 使用 QEMU-user 跨架构运行对照</a:t>
            </a:r>
            <a:endParaRPr sz="1050" b="0" i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20040" y="4576572"/>
            <a:ext cx="8503920" cy="457200"/>
          </a:xfrm>
          <a:prstGeom prst="rect">
            <a:avLst/>
          </a:prstGeom>
          <a:solidFill>
            <a:srgbClr val="FFF8E1"/>
          </a:solidFill>
          <a:ln w="952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4576572"/>
            <a:ext cx="73152" cy="457200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622292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B5E20"/>
                </a:solidFill>
                <a:latin typeface="Microsoft YaHei" panose="020B0503020204020204" charset="-122"/>
                <a:ea typeface="Microsoft YaHei" panose="020B0503020204020204" charset="-122"/>
              </a:rPr>
              <a:t>聚合判定与对照实验</a:t>
            </a:r>
            <a:endParaRPr sz="1100" b="1" i="0">
              <a:solidFill>
                <a:srgbClr val="1B5E2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02920" y="4832604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</a:rPr>
              <a:t>任何一处检查失败即视为安全契约被打破。系统会使用机制开/关两套编译参数进行对照，排除编译器缺省行为的干扰。</a:t>
            </a:r>
            <a:endParaRPr sz="1000" b="0" i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2011680" cy="1463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0" b="1" i="0">
                <a:solidFill>
                  <a:srgbClr val="C8E6C9"/>
                </a:solidFill>
                <a:latin typeface="Microsoft YaHei" panose="020B0503020204020204" charset="-122"/>
                <a:ea typeface="Microsoft YaHei" panose="020B0503020204020204" charset="-122"/>
              </a:rPr>
              <a:t>05</a:t>
            </a:r>
            <a:endParaRPr sz="11000" b="1" i="0">
              <a:solidFill>
                <a:srgbClr val="C8E6C9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743200" y="2121408"/>
            <a:ext cx="73152" cy="868680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017520" y="2057400"/>
            <a:ext cx="56692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000" b="1" i="0">
                <a:solidFill>
                  <a:srgbClr val="1B5E20"/>
                </a:solidFill>
                <a:latin typeface="Microsoft YaHei" panose="020B0503020204020204" charset="-122"/>
                <a:ea typeface="Microsoft YaHei" panose="020B0503020204020204" charset="-122"/>
              </a:rPr>
              <a:t>现有成果</a:t>
            </a:r>
            <a:endParaRPr sz="4000" b="1" i="0">
              <a:solidFill>
                <a:srgbClr val="1B5E2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017520" y="2697480"/>
            <a:ext cx="56692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 i="1">
                <a:solidFill>
                  <a:srgbClr val="666666"/>
                </a:solidFill>
                <a:latin typeface="Microsoft YaHei" panose="020B0503020204020204" charset="-122"/>
                <a:ea typeface="Microsoft YaHei" panose="020B0503020204020204" charset="-122"/>
              </a:rPr>
              <a:t>Preliminary Results</a:t>
            </a:r>
            <a:endParaRPr sz="1800" b="0" i="1">
              <a:solidFill>
                <a:srgbClr val="666666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0080" y="4503420"/>
            <a:ext cx="78638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Microsoft YaHei" panose="020B0503020204020204" charset="-122"/>
                <a:ea typeface="Microsoft YaHei" panose="020B0503020204020204" charset="-122"/>
              </a:rPr>
              <a:t>初步成果：已在 GCC 多个架构与版本中捕获 3 例静默失效缺陷。</a:t>
            </a:r>
            <a:endParaRPr sz="1200" b="0" i="1">
              <a:solidFill>
                <a:srgbClr val="555555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45720"/>
            <a:ext cx="85039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现有成果 — GCC 上的三例静默失效</a:t>
            </a:r>
            <a:endParaRPr sz="2000" b="1" i="0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4814316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Microsoft YaHei" panose="020B0503020204020204" charset="-122"/>
                <a:ea typeface="Microsoft YaHei" panose="020B0503020204020204" charset="-122"/>
              </a:rPr>
              <a:t>8</a:t>
            </a:r>
            <a:endParaRPr sz="900" b="0" i="0">
              <a:solidFill>
                <a:srgbClr val="666666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20040" y="692912"/>
            <a:ext cx="54864" cy="190500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" y="667512"/>
            <a:ext cx="8375904" cy="241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1B5E20"/>
                </a:solidFill>
                <a:latin typeface="Microsoft YaHei" panose="020B0503020204020204" charset="-122"/>
                <a:ea typeface="Microsoft YaHei" panose="020B0503020204020204" charset="-122"/>
              </a:rPr>
              <a:t>初步成果：在 GCC 多个架构中捕获真实静默失效</a:t>
            </a:r>
            <a:endParaRPr sz="1300" b="1" i="0">
              <a:solidFill>
                <a:srgbClr val="1B5E2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20040" y="1124712"/>
            <a:ext cx="2724912" cy="3259836"/>
          </a:xfrm>
          <a:prstGeom prst="rect">
            <a:avLst/>
          </a:prstGeom>
          <a:solidFill>
            <a:srgbClr val="FFEBEE"/>
          </a:solidFill>
          <a:ln w="9525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124712"/>
            <a:ext cx="2724912" cy="4572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" y="1252728"/>
            <a:ext cx="23957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1">
                <a:solidFill>
                  <a:srgbClr val="FFC107"/>
                </a:solidFill>
                <a:latin typeface="Microsoft YaHei" panose="020B0503020204020204" charset="-122"/>
                <a:ea typeface="Microsoft YaHei" panose="020B0503020204020204" charset="-122"/>
              </a:rPr>
              <a:t>Bug 1</a:t>
            </a:r>
            <a:endParaRPr sz="1100" b="1" i="1">
              <a:solidFill>
                <a:srgbClr val="FFC107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84632" y="1508760"/>
            <a:ext cx="239572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</a:rPr>
              <a:t>_FORTIFY_SOURCE size 静默放宽</a:t>
            </a:r>
            <a:endParaRPr sz="1300" b="1" i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84632" y="2039112"/>
            <a:ext cx="239572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1">
                <a:solidFill>
                  <a:srgbClr val="666666"/>
                </a:solidFill>
                <a:latin typeface="Microsoft YaHei" panose="020B0503020204020204" charset="-122"/>
                <a:ea typeface="Microsoft YaHei" panose="020B0503020204020204" charset="-122"/>
              </a:rPr>
              <a:t>位置: </a:t>
            </a:r>
            <a:r>
              <a:rPr sz="950" b="0" i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</a:rPr>
              <a:t>tree-ssa-strlen pass</a:t>
            </a:r>
            <a:endParaRPr sz="950" b="0" i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84632" y="2258568"/>
            <a:ext cx="239572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1">
                <a:solidFill>
                  <a:srgbClr val="666666"/>
                </a:solidFill>
                <a:latin typeface="Microsoft YaHei" panose="020B0503020204020204" charset="-122"/>
                <a:ea typeface="Microsoft YaHei" panose="020B0503020204020204" charset="-122"/>
              </a:rPr>
              <a:t>上游: </a:t>
            </a:r>
            <a:r>
              <a:rPr sz="950" b="1" i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</a:rPr>
              <a:t>PR-125079</a:t>
            </a:r>
            <a:endParaRPr sz="950" b="1" i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84632" y="2542032"/>
            <a:ext cx="2395728" cy="13853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</a:rPr>
              <a:t>将 __strcat_chk 优化为 __stpcpy_chk 时，未相应减小 size 参数。这导致运行时的安全上限被暗中放宽。</a:t>
            </a:r>
            <a:endParaRPr sz="1000" b="0" i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20040" y="4018788"/>
            <a:ext cx="272491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1B5E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" y="4018788"/>
            <a:ext cx="250545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>
                <a:solidFill>
                  <a:srgbClr val="1B5E20"/>
                </a:solidFill>
                <a:latin typeface="Microsoft YaHei" panose="020B0503020204020204" charset="-122"/>
                <a:ea typeface="Microsoft YaHei" panose="020B0503020204020204" charset="-122"/>
              </a:rPr>
              <a:t>✓ 已合入 master</a:t>
            </a:r>
            <a:endParaRPr sz="1050" b="1" i="0">
              <a:solidFill>
                <a:srgbClr val="1B5E2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209544" y="1124712"/>
            <a:ext cx="2724912" cy="3259836"/>
          </a:xfrm>
          <a:prstGeom prst="rect">
            <a:avLst/>
          </a:prstGeom>
          <a:solidFill>
            <a:srgbClr val="FFEBEE"/>
          </a:solidFill>
          <a:ln w="9525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9544" y="1124712"/>
            <a:ext cx="2724912" cy="4572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74136" y="1252728"/>
            <a:ext cx="23957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1">
                <a:solidFill>
                  <a:srgbClr val="FFC107"/>
                </a:solidFill>
                <a:latin typeface="Microsoft YaHei" panose="020B0503020204020204" charset="-122"/>
                <a:ea typeface="Microsoft YaHei" panose="020B0503020204020204" charset="-122"/>
              </a:rPr>
              <a:t>Bug 2</a:t>
            </a:r>
            <a:endParaRPr sz="1100" b="1" i="1">
              <a:solidFill>
                <a:srgbClr val="FFC107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374136" y="1508760"/>
            <a:ext cx="239572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</a:rPr>
              <a:t>IBT endbr 字节模式漏检</a:t>
            </a:r>
            <a:endParaRPr sz="1300" b="1" i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374136" y="2039112"/>
            <a:ext cx="239572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1">
                <a:solidFill>
                  <a:srgbClr val="666666"/>
                </a:solidFill>
                <a:latin typeface="Microsoft YaHei" panose="020B0503020204020204" charset="-122"/>
                <a:ea typeface="Microsoft YaHei" panose="020B0503020204020204" charset="-122"/>
              </a:rPr>
              <a:t>位置: </a:t>
            </a:r>
            <a:r>
              <a:rPr sz="950" b="0" i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</a:rPr>
              <a:t>x86 后端 endbr 谓词</a:t>
            </a:r>
            <a:endParaRPr sz="950" b="0" i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374136" y="2258568"/>
            <a:ext cx="239572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1">
                <a:solidFill>
                  <a:srgbClr val="666666"/>
                </a:solidFill>
                <a:latin typeface="Microsoft YaHei" panose="020B0503020204020204" charset="-122"/>
                <a:ea typeface="Microsoft YaHei" panose="020B0503020204020204" charset="-122"/>
              </a:rPr>
              <a:t>上游: </a:t>
            </a:r>
            <a:r>
              <a:rPr sz="950" b="1" i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</a:rPr>
              <a:t>PR-125084</a:t>
            </a:r>
            <a:endParaRPr sz="950" b="1" i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374136" y="2542032"/>
            <a:ext cx="2395728" cy="13853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</a:rPr>
              <a:t>扫描循环遇到立即数高位非零时提前退出，嵌在高位的 endbr 字节被漏检。代码段中被混入了可被劫持的伪跳转入口。</a:t>
            </a:r>
            <a:endParaRPr sz="1000" b="0" i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3209544" y="4018788"/>
            <a:ext cx="272491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19272" y="4018788"/>
            <a:ext cx="250545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>
                <a:solidFill>
                  <a:srgbClr val="E65100"/>
                </a:solidFill>
                <a:latin typeface="Microsoft YaHei" panose="020B0503020204020204" charset="-122"/>
                <a:ea typeface="Microsoft YaHei" panose="020B0503020204020204" charset="-122"/>
              </a:rPr>
              <a:t>⏳ 等待维护者回复</a:t>
            </a:r>
            <a:endParaRPr sz="1050" b="1" i="0">
              <a:solidFill>
                <a:srgbClr val="E6510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099048" y="1124712"/>
            <a:ext cx="2724912" cy="3259836"/>
          </a:xfrm>
          <a:prstGeom prst="rect">
            <a:avLst/>
          </a:prstGeom>
          <a:solidFill>
            <a:srgbClr val="FFEBEE"/>
          </a:solidFill>
          <a:ln w="9525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099048" y="1124712"/>
            <a:ext cx="2724912" cy="4572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1252728"/>
            <a:ext cx="23957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1">
                <a:solidFill>
                  <a:srgbClr val="FFC107"/>
                </a:solidFill>
                <a:latin typeface="Microsoft YaHei" panose="020B0503020204020204" charset="-122"/>
                <a:ea typeface="Microsoft YaHei" panose="020B0503020204020204" charset="-122"/>
              </a:rPr>
              <a:t>Bug 3</a:t>
            </a:r>
            <a:endParaRPr sz="1100" b="1" i="1">
              <a:solidFill>
                <a:srgbClr val="FFC107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263640" y="1508760"/>
            <a:ext cx="239572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</a:rPr>
              <a:t>多 ISA canary 寄存器残留</a:t>
            </a:r>
            <a:endParaRPr sz="1300" b="1" i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263640" y="2039112"/>
            <a:ext cx="239572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1">
                <a:solidFill>
                  <a:srgbClr val="666666"/>
                </a:solidFill>
                <a:latin typeface="Microsoft YaHei" panose="020B0503020204020204" charset="-122"/>
                <a:ea typeface="Microsoft YaHei" panose="020B0503020204020204" charset="-122"/>
              </a:rPr>
              <a:t>位置: </a:t>
            </a:r>
            <a:r>
              <a:rPr sz="950" b="0" i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</a:rPr>
              <a:t>通用 SSP fallback 后端</a:t>
            </a:r>
            <a:endParaRPr sz="950" b="0" i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263640" y="2258568"/>
            <a:ext cx="239572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1">
                <a:solidFill>
                  <a:srgbClr val="666666"/>
                </a:solidFill>
                <a:latin typeface="Microsoft YaHei" panose="020B0503020204020204" charset="-122"/>
                <a:ea typeface="Microsoft YaHei" panose="020B0503020204020204" charset="-122"/>
              </a:rPr>
              <a:t>上游: </a:t>
            </a:r>
            <a:r>
              <a:rPr sz="950" b="1" i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</a:rPr>
              <a:t>PR-125045 (meta) · PR-125049</a:t>
            </a:r>
            <a:endParaRPr sz="950" b="1" i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263640" y="2542032"/>
            <a:ext cx="2395728" cy="13853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</a:rPr>
              <a:t>部分架构的后备实现在函数返回前未清零金丝雀寄存器，导致进程级的全局哨兵值残留在通用寄存器中。</a:t>
            </a:r>
            <a:endParaRPr sz="1000" b="0" i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6099048" y="4018788"/>
            <a:ext cx="272491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1B5E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08776" y="4018788"/>
            <a:ext cx="250545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>
                <a:solidFill>
                  <a:srgbClr val="1B5E20"/>
                </a:solidFill>
                <a:latin typeface="Microsoft YaHei" panose="020B0503020204020204" charset="-122"/>
                <a:ea typeface="Microsoft YaHei" panose="020B0503020204020204" charset="-122"/>
              </a:rPr>
              <a:t>✓ LoongArch 子例已合入</a:t>
            </a:r>
            <a:endParaRPr sz="1050" b="1" i="0">
              <a:solidFill>
                <a:srgbClr val="1B5E2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320040" y="4668012"/>
            <a:ext cx="85039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1">
                <a:solidFill>
                  <a:srgbClr val="666666"/>
                </a:solidFill>
                <a:latin typeface="Microsoft YaHei" panose="020B0503020204020204" charset="-122"/>
                <a:ea typeface="Microsoft YaHei" panose="020B0503020204020204" charset="-122"/>
              </a:rPr>
              <a:t>当前实验范围涵盖 GCC 的多个架构与版本；针对 LLVM 及其他防御机制的测试将在下一阶段展开。</a:t>
            </a:r>
            <a:endParaRPr sz="900" b="0" i="1">
              <a:solidFill>
                <a:srgbClr val="666666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45720"/>
            <a:ext cx="85039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现有成果 — Canary 寄存器残留: 原理与历史教训</a:t>
            </a:r>
            <a:endParaRPr sz="2000" b="1" i="0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4814316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Microsoft YaHei" panose="020B0503020204020204" charset="-122"/>
                <a:ea typeface="Microsoft YaHei" panose="020B0503020204020204" charset="-122"/>
              </a:rPr>
              <a:t>9</a:t>
            </a:r>
            <a:endParaRPr sz="900" b="0" i="0">
              <a:solidFill>
                <a:srgbClr val="666666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20040" y="692912"/>
            <a:ext cx="54864" cy="190500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" y="667512"/>
            <a:ext cx="8375904" cy="241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1B5E20"/>
                </a:solidFill>
                <a:latin typeface="Microsoft YaHei" panose="020B0503020204020204" charset="-122"/>
                <a:ea typeface="Microsoft YaHei" panose="020B0503020204020204" charset="-122"/>
              </a:rPr>
              <a:t>缺陷剖析：Canary 寄存器残留的破坏性</a:t>
            </a:r>
            <a:endParaRPr sz="1300" b="1" i="0">
              <a:solidFill>
                <a:srgbClr val="1B5E2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20040" y="1124712"/>
            <a:ext cx="4151376" cy="3186684"/>
          </a:xfrm>
          <a:prstGeom prst="rect">
            <a:avLst/>
          </a:prstGeom>
          <a:solidFill>
            <a:srgbClr val="E8F5E9"/>
          </a:solidFill>
          <a:ln w="9525">
            <a:solidFill>
              <a:srgbClr val="1B5E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124712"/>
            <a:ext cx="4151376" cy="4572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" y="1252728"/>
            <a:ext cx="382219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B5E20"/>
                </a:solidFill>
                <a:latin typeface="Microsoft YaHei" panose="020B0503020204020204" charset="-122"/>
                <a:ea typeface="Microsoft YaHei" panose="020B0503020204020204" charset="-122"/>
              </a:rPr>
              <a:t>安全规范：不能让底牌漏出</a:t>
            </a:r>
            <a:endParaRPr sz="1300" b="1" i="0">
              <a:solidFill>
                <a:srgbClr val="1B5E2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1627632"/>
            <a:ext cx="3785616" cy="25923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050" b="0" i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</a:rPr>
              <a:t>① Canary 值来自全局 </a:t>
            </a:r>
            <a:r>
              <a:rPr sz="1050" b="1" i="0">
                <a:solidFill>
                  <a:srgbClr val="1B5E20"/>
                </a:solidFill>
                <a:latin typeface="Microsoft YaHei" panose="020B0503020204020204" charset="-122"/>
                <a:ea typeface="Microsoft YaHei" panose="020B0503020204020204" charset="-122"/>
              </a:rPr>
              <a:t>__stack_chk_guard</a:t>
            </a:r>
            <a:r>
              <a:rPr sz="1050" b="0" i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</a:rPr>
              <a:t> 并在进程内复用。一旦这个值被窃取，后续防线就会彻底瓦解。</a:t>
            </a:r>
            <a:endParaRPr sz="1050" b="0" i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</a:endParaRP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050" b="0" i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</a:rPr>
              <a:t>② Canary 需要频繁加载到通用寄存器中进行校验或压栈。</a:t>
            </a:r>
            <a:endParaRPr sz="1050" b="0" i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</a:endParaRP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</a:rPr>
              <a:t>③ 安全规范强制要求：</a:t>
            </a:r>
            <a:r>
              <a:rPr sz="1050" b="1" i="0">
                <a:solidFill>
                  <a:srgbClr val="1B5E20"/>
                </a:solidFill>
                <a:latin typeface="Microsoft YaHei" panose="020B0503020204020204" charset="-122"/>
                <a:ea typeface="Microsoft YaHei" panose="020B0503020204020204" charset="-122"/>
              </a:rPr>
              <a:t>函数返回前必须把用过的金丝雀寄存器清零</a:t>
            </a:r>
            <a:r>
              <a:rPr sz="1050" b="0" i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</a:rPr>
              <a:t>。否则该值就会随寄存器泄漏给攻击者。</a:t>
            </a:r>
            <a:endParaRPr sz="1050" b="0" i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672584" y="1124712"/>
            <a:ext cx="4151376" cy="3186684"/>
          </a:xfrm>
          <a:prstGeom prst="rect">
            <a:avLst/>
          </a:prstGeom>
          <a:solidFill>
            <a:srgbClr val="FFF8E1"/>
          </a:solidFill>
          <a:ln w="952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672584" y="1124712"/>
            <a:ext cx="4151376" cy="45720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37176" y="1252728"/>
            <a:ext cx="382219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B5E20"/>
                </a:solidFill>
                <a:latin typeface="Microsoft YaHei" panose="020B0503020204020204" charset="-122"/>
                <a:ea typeface="Microsoft YaHei" panose="020B0503020204020204" charset="-122"/>
              </a:rPr>
              <a:t>历史重演：同源缺陷跨架构潜伏</a:t>
            </a:r>
            <a:endParaRPr sz="1300" b="1" i="0">
              <a:solidFill>
                <a:srgbClr val="1B5E2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855464" y="1627632"/>
            <a:ext cx="3785616" cy="25923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050" b="0" i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</a:rPr>
              <a:t>2020 年，GCC 曾修复过 ARM 架构上的金丝雀寄存器残留问题 (</a:t>
            </a:r>
            <a:r>
              <a:rPr sz="1050" b="1" i="0">
                <a:solidFill>
                  <a:srgbClr val="1B5E20"/>
                </a:solidFill>
                <a:latin typeface="Microsoft YaHei" panose="020B0503020204020204" charset="-122"/>
                <a:ea typeface="Microsoft YaHei" panose="020B0503020204020204" charset="-122"/>
              </a:rPr>
              <a:t>PR-96191</a:t>
            </a:r>
            <a:r>
              <a:rPr sz="1050" b="0" i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</a:rPr>
              <a:t>)。</a:t>
            </a:r>
            <a:endParaRPr sz="1050" b="0" i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</a:endParaRPr>
          </a:p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050" b="0" i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</a:rPr>
              <a:t>但是，当时并未同步修复通用的后备实现。MIPS、LoongArch 等架构一直使用的是这套有缺陷的后备代码。</a:t>
            </a:r>
            <a:endParaRPr sz="1050" b="0" i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</a:endParaRP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</a:rPr>
              <a:t>由于程序不会崩溃，这个遗漏在 5 年内无人察觉。系统看似开启了保护，</a:t>
            </a:r>
            <a:r>
              <a:rPr sz="1050" b="1" i="0">
                <a:solidFill>
                  <a:srgbClr val="C62828"/>
                </a:solidFill>
                <a:latin typeface="Microsoft YaHei" panose="020B0503020204020204" charset="-122"/>
                <a:ea typeface="Microsoft YaHei" panose="020B0503020204020204" charset="-122"/>
              </a:rPr>
              <a:t>金丝雀值却随时可能被读取</a:t>
            </a:r>
            <a:r>
              <a:rPr sz="1050" b="0" i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</a:rPr>
              <a:t>。</a:t>
            </a:r>
            <a:endParaRPr sz="1050" b="0" i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20040" y="4576572"/>
            <a:ext cx="850392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4632" y="4631436"/>
            <a:ext cx="8174736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B5E20"/>
                </a:solidFill>
                <a:latin typeface="Microsoft YaHei" panose="020B0503020204020204" charset="-122"/>
                <a:ea typeface="Microsoft YaHei" panose="020B0503020204020204" charset="-122"/>
              </a:rPr>
              <a:t>我们的解法：</a:t>
            </a:r>
            <a:r>
              <a:rPr sz="1100" b="0" i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</a:rPr>
              <a:t>将“函数返回前必须清零金丝雀寄存器”提炼为一条安全不变量，并用动态探针加以验证。</a:t>
            </a:r>
            <a:endParaRPr sz="1100" b="0" i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45720"/>
            <a:ext cx="85039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现有成果 — 用内联汇编 checker 触发多 ISA 泄漏</a:t>
            </a:r>
            <a:endParaRPr sz="2000" b="1" i="0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4814316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Microsoft YaHei" panose="020B0503020204020204" charset="-122"/>
                <a:ea typeface="Microsoft YaHei" panose="020B0503020204020204" charset="-122"/>
              </a:rPr>
              <a:t>10</a:t>
            </a:r>
            <a:endParaRPr sz="900" b="0" i="0">
              <a:solidFill>
                <a:srgbClr val="666666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20040" y="692912"/>
            <a:ext cx="54864" cy="190500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" y="667512"/>
            <a:ext cx="8375904" cy="241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1B5E20"/>
                </a:solidFill>
                <a:latin typeface="Microsoft YaHei" panose="020B0503020204020204" charset="-122"/>
                <a:ea typeface="Microsoft YaHei" panose="020B0503020204020204" charset="-122"/>
              </a:rPr>
              <a:t>实证发现：内联汇编探针触发架构级泄露</a:t>
            </a:r>
            <a:endParaRPr sz="1300" b="1" i="0">
              <a:solidFill>
                <a:srgbClr val="1B5E2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20040" y="1106424"/>
            <a:ext cx="4114800" cy="3003804"/>
          </a:xfrm>
          <a:prstGeom prst="rect">
            <a:avLst/>
          </a:prstGeom>
          <a:solidFill>
            <a:srgbClr val="E8F5E9"/>
          </a:solidFill>
          <a:ln w="9525">
            <a:solidFill>
              <a:srgbClr val="1B5E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106424"/>
            <a:ext cx="4114800" cy="4572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" y="1234440"/>
            <a:ext cx="378561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B5E20"/>
                </a:solidFill>
                <a:latin typeface="Microsoft YaHei" panose="020B0503020204020204" charset="-122"/>
                <a:ea typeface="Microsoft YaHei" panose="020B0503020204020204" charset="-122"/>
              </a:rPr>
              <a:t>动态探针设计</a:t>
            </a:r>
            <a:endParaRPr sz="1300" b="1" i="0">
              <a:solidFill>
                <a:srgbClr val="1B5E2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1609344"/>
            <a:ext cx="3749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</a:rPr>
              <a:t>在函数返回前插入汇编指令，读取各个寄存器的值并与 </a:t>
            </a:r>
            <a:r>
              <a:rPr sz="1050" b="1" i="0">
                <a:solidFill>
                  <a:srgbClr val="1B5E20"/>
                </a:solidFill>
                <a:latin typeface="Microsoft YaHei" panose="020B0503020204020204" charset="-122"/>
                <a:ea typeface="Microsoft YaHei" panose="020B0503020204020204" charset="-122"/>
              </a:rPr>
              <a:t>__stack_chk_guard</a:t>
            </a:r>
            <a:r>
              <a:rPr sz="1050" b="0" i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</a:rPr>
              <a:t> 对比；只要发现一致，即可确认 </a:t>
            </a:r>
            <a:r>
              <a:rPr sz="1050" b="1" i="0">
                <a:solidFill>
                  <a:srgbClr val="C62828"/>
                </a:solidFill>
                <a:latin typeface="Microsoft YaHei" panose="020B0503020204020204" charset="-122"/>
                <a:ea typeface="Microsoft YaHei" panose="020B0503020204020204" charset="-122"/>
              </a:rPr>
              <a:t>金丝雀发生了泄漏</a:t>
            </a:r>
            <a:r>
              <a:rPr sz="1050" b="0" i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</a:rPr>
              <a:t>。</a:t>
            </a:r>
            <a:endParaRPr sz="1050" b="0" i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84632" y="2734056"/>
            <a:ext cx="3785616" cy="1312164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072" y="2788920"/>
            <a:ext cx="360273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1">
                <a:solidFill>
                  <a:srgbClr val="666666"/>
                </a:solidFill>
                <a:latin typeface="Microsoft YaHei" panose="020B0503020204020204" charset="-122"/>
                <a:ea typeface="Microsoft YaHei" panose="020B0503020204020204" charset="-122"/>
              </a:rPr>
              <a:t>LoongArch 泄漏探针示例</a:t>
            </a:r>
            <a:endParaRPr sz="900" b="0" i="1">
              <a:solidFill>
                <a:srgbClr val="666666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76072" y="3008376"/>
            <a:ext cx="3602736" cy="9829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333333"/>
                </a:solidFill>
                <a:latin typeface="Courier New" panose="02070309020205020404"/>
                <a:ea typeface="Microsoft YaHei" panose="020B0503020204020204" charset="-122"/>
              </a:rPr>
              <a:t>asm volatile (</a:t>
            </a:r>
            <a:endParaRPr sz="850" b="0" i="0">
              <a:solidFill>
                <a:srgbClr val="333333"/>
              </a:solidFill>
              <a:latin typeface="Courier New" panose="02070309020205020404"/>
              <a:ea typeface="Microsoft YaHei" panose="020B0503020204020204" charset="-122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333333"/>
                </a:solidFill>
                <a:latin typeface="Courier New" panose="02070309020205020404"/>
                <a:ea typeface="Microsoft YaHei" panose="020B0503020204020204" charset="-122"/>
              </a:rPr>
              <a:t>    "la.local $t1, __stack_chk_guard\n"</a:t>
            </a:r>
            <a:endParaRPr sz="850" b="0" i="0">
              <a:solidFill>
                <a:srgbClr val="333333"/>
              </a:solidFill>
              <a:latin typeface="Courier New" panose="02070309020205020404"/>
              <a:ea typeface="Microsoft YaHei" panose="020B0503020204020204" charset="-122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333333"/>
                </a:solidFill>
                <a:latin typeface="Courier New" panose="02070309020205020404"/>
                <a:ea typeface="Microsoft YaHei" panose="020B0503020204020204" charset="-122"/>
              </a:rPr>
              <a:t>    "ld.d   $t1, $t1, 0\n"</a:t>
            </a:r>
            <a:endParaRPr sz="850" b="0" i="0">
              <a:solidFill>
                <a:srgbClr val="333333"/>
              </a:solidFill>
              <a:latin typeface="Courier New" panose="02070309020205020404"/>
              <a:ea typeface="Microsoft YaHei" panose="020B0503020204020204" charset="-122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333333"/>
                </a:solidFill>
                <a:latin typeface="Courier New" panose="02070309020205020404"/>
                <a:ea typeface="Microsoft YaHei" panose="020B0503020204020204" charset="-122"/>
              </a:rPr>
              <a:t>    "beq    $t1, $r12, leaked\n"</a:t>
            </a:r>
            <a:endParaRPr sz="850" b="0" i="0">
              <a:solidFill>
                <a:srgbClr val="333333"/>
              </a:solidFill>
              <a:latin typeface="Courier New" panose="02070309020205020404"/>
              <a:ea typeface="Microsoft YaHei" panose="020B0503020204020204" charset="-122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333333"/>
                </a:solidFill>
                <a:latin typeface="Courier New" panose="02070309020205020404"/>
                <a:ea typeface="Microsoft YaHei" panose="020B0503020204020204" charset="-122"/>
              </a:rPr>
              <a:t>);  // 返回前若 $r12 还存着 guard 值 → 泄漏</a:t>
            </a:r>
            <a:endParaRPr sz="850" b="0" i="0">
              <a:solidFill>
                <a:srgbClr val="333333"/>
              </a:solidFill>
              <a:latin typeface="Courier New" panose="02070309020205020404"/>
              <a:ea typeface="Microsoft YaHei" panose="020B0503020204020204" charset="-122"/>
            </a:endParaRPr>
          </a:p>
        </p:txBody>
      </p:sp>
      <p:pic>
        <p:nvPicPr>
          <p:cNvPr id="15" name="Picture 14" descr="gcc-dev-sever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36008" y="1259333"/>
            <a:ext cx="4187952" cy="244195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636008" y="3737863"/>
            <a:ext cx="418795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0" i="1">
                <a:solidFill>
                  <a:srgbClr val="666666"/>
                </a:solidFill>
                <a:latin typeface="Microsoft YaHei" panose="020B0503020204020204" charset="-122"/>
                <a:ea typeface="Microsoft YaHei" panose="020B0503020204020204" charset="-122"/>
              </a:rPr>
              <a:t>图 7: 上游对该安全隐患的确认邮件</a:t>
            </a:r>
            <a:endParaRPr sz="950" b="0" i="1">
              <a:solidFill>
                <a:srgbClr val="666666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20040" y="4375404"/>
            <a:ext cx="8503920" cy="658368"/>
          </a:xfrm>
          <a:prstGeom prst="rect">
            <a:avLst/>
          </a:prstGeom>
          <a:solidFill>
            <a:srgbClr val="E8F5E9"/>
          </a:solidFill>
          <a:ln w="9525">
            <a:solidFill>
              <a:srgbClr val="1B5E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4375404"/>
            <a:ext cx="73152" cy="658368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430268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B5E20"/>
                </a:solidFill>
                <a:latin typeface="Microsoft YaHei" panose="020B0503020204020204" charset="-122"/>
                <a:ea typeface="Microsoft YaHei" panose="020B0503020204020204" charset="-122"/>
              </a:rPr>
              <a:t>上游反馈</a:t>
            </a:r>
            <a:endParaRPr sz="1100" b="1" i="0">
              <a:solidFill>
                <a:srgbClr val="1B5E2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02920" y="4668012"/>
            <a:ext cx="8229600" cy="338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</a:rPr>
              <a:t>LoongArch 维护者将其定性为严重的系统漏洞 (</a:t>
            </a:r>
            <a:r>
              <a:rPr sz="1000" b="1" i="0">
                <a:solidFill>
                  <a:srgbClr val="C62828"/>
                </a:solidFill>
                <a:latin typeface="Microsoft YaHei" panose="020B0503020204020204" charset="-122"/>
                <a:ea typeface="Microsoft YaHei" panose="020B0503020204020204" charset="-122"/>
              </a:rPr>
              <a:t>severe security vulnerability</a:t>
            </a:r>
            <a:r>
              <a:rPr sz="1000" b="0" i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</a:rPr>
              <a:t>)，并决定将修复移植到旧版本。其他架构的同类隐患也正在依次上报。</a:t>
            </a:r>
            <a:endParaRPr sz="1000" b="0" i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2011680" cy="1463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0" b="1" i="0">
                <a:solidFill>
                  <a:srgbClr val="C8E6C9"/>
                </a:solidFill>
                <a:latin typeface="Microsoft YaHei" panose="020B0503020204020204" charset="-122"/>
                <a:ea typeface="Microsoft YaHei" panose="020B0503020204020204" charset="-122"/>
              </a:rPr>
              <a:t>06</a:t>
            </a:r>
            <a:endParaRPr sz="11000" b="1" i="0">
              <a:solidFill>
                <a:srgbClr val="C8E6C9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743200" y="2121408"/>
            <a:ext cx="73152" cy="868680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017520" y="2057400"/>
            <a:ext cx="56692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000" b="1" i="0">
                <a:solidFill>
                  <a:srgbClr val="1B5E20"/>
                </a:solidFill>
                <a:latin typeface="Microsoft YaHei" panose="020B0503020204020204" charset="-122"/>
                <a:ea typeface="Microsoft YaHei" panose="020B0503020204020204" charset="-122"/>
              </a:rPr>
              <a:t>进度安排</a:t>
            </a:r>
            <a:endParaRPr sz="4000" b="1" i="0">
              <a:solidFill>
                <a:srgbClr val="1B5E2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017520" y="2697480"/>
            <a:ext cx="56692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 i="1">
                <a:solidFill>
                  <a:srgbClr val="666666"/>
                </a:solidFill>
                <a:latin typeface="Microsoft YaHei" panose="020B0503020204020204" charset="-122"/>
                <a:ea typeface="Microsoft YaHei" panose="020B0503020204020204" charset="-122"/>
              </a:rPr>
              <a:t>Schedule &amp; Plan</a:t>
            </a:r>
            <a:endParaRPr sz="1800" b="0" i="1">
              <a:solidFill>
                <a:srgbClr val="666666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0080" y="4503420"/>
            <a:ext cx="78638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Microsoft YaHei" panose="020B0503020204020204" charset="-122"/>
                <a:ea typeface="Microsoft YaHei" panose="020B0503020204020204" charset="-122"/>
              </a:rPr>
              <a:t>从扩展机制到上游闭环：四阶段推进，保障按期完成学位论文。</a:t>
            </a:r>
            <a:endParaRPr sz="1200" b="0" i="1">
              <a:solidFill>
                <a:srgbClr val="555555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45720"/>
            <a:ext cx="85039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进度安排 — 学位论文工作计划</a:t>
            </a:r>
            <a:endParaRPr sz="2000" b="1" i="0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4814316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Microsoft YaHei" panose="020B0503020204020204" charset="-122"/>
                <a:ea typeface="Microsoft YaHei" panose="020B0503020204020204" charset="-122"/>
              </a:rPr>
              <a:t>11</a:t>
            </a:r>
            <a:endParaRPr sz="900" b="0" i="0">
              <a:solidFill>
                <a:srgbClr val="666666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20040" y="692912"/>
            <a:ext cx="54864" cy="190500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" y="667512"/>
            <a:ext cx="8375904" cy="241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1B5E20"/>
                </a:solidFill>
                <a:latin typeface="Microsoft YaHei" panose="020B0503020204020204" charset="-122"/>
                <a:ea typeface="Microsoft YaHei" panose="020B0503020204020204" charset="-122"/>
              </a:rPr>
              <a:t>工作进度：四阶段推进，确保按期答辩</a:t>
            </a:r>
            <a:endParaRPr sz="1300" b="1" i="0">
              <a:solidFill>
                <a:srgbClr val="1B5E2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20040" y="1078992"/>
            <a:ext cx="2724912" cy="1858518"/>
          </a:xfrm>
          <a:prstGeom prst="rect">
            <a:avLst/>
          </a:prstGeom>
          <a:solidFill>
            <a:srgbClr val="E8F5E9"/>
          </a:solidFill>
          <a:ln w="9525">
            <a:solidFill>
              <a:srgbClr val="1B5E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078992"/>
            <a:ext cx="2724912" cy="4572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" y="1170432"/>
            <a:ext cx="23957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1">
                <a:solidFill>
                  <a:srgbClr val="FFC107"/>
                </a:solidFill>
                <a:latin typeface="Microsoft YaHei" panose="020B0503020204020204" charset="-122"/>
                <a:ea typeface="Microsoft YaHei" panose="020B0503020204020204" charset="-122"/>
              </a:rPr>
              <a:t>S1</a:t>
            </a:r>
            <a:endParaRPr sz="1000" b="1" i="1">
              <a:solidFill>
                <a:srgbClr val="FFC107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84632" y="1353312"/>
            <a:ext cx="239572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B5E20"/>
                </a:solidFill>
                <a:latin typeface="Microsoft YaHei" panose="020B0503020204020204" charset="-122"/>
                <a:ea typeface="Microsoft YaHei" panose="020B0503020204020204" charset="-122"/>
              </a:rPr>
              <a:t>2026.05 — 2026.07</a:t>
            </a:r>
            <a:endParaRPr sz="1100" b="1" i="0">
              <a:solidFill>
                <a:srgbClr val="1B5E2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84632" y="1645920"/>
            <a:ext cx="239572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</a:rPr>
              <a:t>扩展防御机制覆盖</a:t>
            </a:r>
            <a:endParaRPr sz="1200" b="1" i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84632" y="1975104"/>
            <a:ext cx="2395728" cy="8983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</a:rPr>
              <a:t>在 canary、_FORTIFY_SOURCE、IBT 基础上，扩展到 BTI / PAC、Shadow Stack、CFI 等机制；丰富预言机的静态与动态检查器。</a:t>
            </a:r>
            <a:endParaRPr sz="950" b="0" i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209544" y="1078992"/>
            <a:ext cx="2724912" cy="1858518"/>
          </a:xfrm>
          <a:prstGeom prst="rect">
            <a:avLst/>
          </a:prstGeom>
          <a:solidFill>
            <a:srgbClr val="E8F5E9"/>
          </a:solidFill>
          <a:ln w="9525">
            <a:solidFill>
              <a:srgbClr val="1B5E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9544" y="1078992"/>
            <a:ext cx="2724912" cy="4572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74136" y="1170432"/>
            <a:ext cx="23957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1">
                <a:solidFill>
                  <a:srgbClr val="FFC107"/>
                </a:solidFill>
                <a:latin typeface="Microsoft YaHei" panose="020B0503020204020204" charset="-122"/>
                <a:ea typeface="Microsoft YaHei" panose="020B0503020204020204" charset="-122"/>
              </a:rPr>
              <a:t>S2</a:t>
            </a:r>
            <a:endParaRPr sz="1000" b="1" i="1">
              <a:solidFill>
                <a:srgbClr val="FFC107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374136" y="1353312"/>
            <a:ext cx="239572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B5E20"/>
                </a:solidFill>
                <a:latin typeface="Microsoft YaHei" panose="020B0503020204020204" charset="-122"/>
                <a:ea typeface="Microsoft YaHei" panose="020B0503020204020204" charset="-122"/>
              </a:rPr>
              <a:t>2026.07 — 2026.09</a:t>
            </a:r>
            <a:endParaRPr sz="1100" b="1" i="0">
              <a:solidFill>
                <a:srgbClr val="1B5E2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374136" y="1645920"/>
            <a:ext cx="239572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</a:rPr>
              <a:t>迁移到 LLVM 工具链</a:t>
            </a:r>
            <a:endParaRPr sz="1200" b="1" i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374136" y="1975104"/>
            <a:ext cx="2395728" cy="8983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</a:rPr>
              <a:t>把编译器子系统、覆盖率适配层、flag profile 扩展到 LLVM；对齐跨架构 / 跨编译器实验框架。</a:t>
            </a:r>
            <a:endParaRPr sz="950" b="0" i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099048" y="1078992"/>
            <a:ext cx="2724912" cy="1858518"/>
          </a:xfrm>
          <a:prstGeom prst="rect">
            <a:avLst/>
          </a:prstGeom>
          <a:solidFill>
            <a:srgbClr val="E8F5E9"/>
          </a:solidFill>
          <a:ln w="9525">
            <a:solidFill>
              <a:srgbClr val="1B5E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99048" y="1078992"/>
            <a:ext cx="2724912" cy="4572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1170432"/>
            <a:ext cx="23957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1">
                <a:solidFill>
                  <a:srgbClr val="FFC107"/>
                </a:solidFill>
                <a:latin typeface="Microsoft YaHei" panose="020B0503020204020204" charset="-122"/>
                <a:ea typeface="Microsoft YaHei" panose="020B0503020204020204" charset="-122"/>
              </a:rPr>
              <a:t>S3</a:t>
            </a:r>
            <a:endParaRPr sz="1000" b="1" i="1">
              <a:solidFill>
                <a:srgbClr val="FFC107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263640" y="1353312"/>
            <a:ext cx="239572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B5E20"/>
                </a:solidFill>
                <a:latin typeface="Microsoft YaHei" panose="020B0503020204020204" charset="-122"/>
                <a:ea typeface="Microsoft YaHei" panose="020B0503020204020204" charset="-122"/>
              </a:rPr>
              <a:t>2026.09 — 2026.12</a:t>
            </a:r>
            <a:endParaRPr sz="1100" b="1" i="0">
              <a:solidFill>
                <a:srgbClr val="1B5E2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263640" y="1645920"/>
            <a:ext cx="239572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</a:rPr>
              <a:t>全机制端到端实验</a:t>
            </a:r>
            <a:endParaRPr sz="1200" b="1" i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263640" y="1975104"/>
            <a:ext cx="2395728" cy="8983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</a:rPr>
              <a:t>在 GCC 与 LLVM 多版本、多 ISA 上完成全机制端到端实验，持续推进上游缺陷上报闭环。</a:t>
            </a:r>
            <a:endParaRPr sz="950" b="0" i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320040" y="3102102"/>
            <a:ext cx="2724912" cy="1858518"/>
          </a:xfrm>
          <a:prstGeom prst="rect">
            <a:avLst/>
          </a:prstGeom>
          <a:solidFill>
            <a:srgbClr val="E8F5E9"/>
          </a:solidFill>
          <a:ln w="9525">
            <a:solidFill>
              <a:srgbClr val="1B5E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3102102"/>
            <a:ext cx="2724912" cy="4572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" y="3193542"/>
            <a:ext cx="23957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1">
                <a:solidFill>
                  <a:srgbClr val="FFC107"/>
                </a:solidFill>
                <a:latin typeface="Microsoft YaHei" panose="020B0503020204020204" charset="-122"/>
                <a:ea typeface="Microsoft YaHei" panose="020B0503020204020204" charset="-122"/>
              </a:rPr>
              <a:t>S4</a:t>
            </a:r>
            <a:endParaRPr sz="1000" b="1" i="1">
              <a:solidFill>
                <a:srgbClr val="FFC107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84632" y="3376422"/>
            <a:ext cx="239572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B5E20"/>
                </a:solidFill>
                <a:latin typeface="Microsoft YaHei" panose="020B0503020204020204" charset="-122"/>
                <a:ea typeface="Microsoft YaHei" panose="020B0503020204020204" charset="-122"/>
              </a:rPr>
              <a:t>2026.12 — 2027.02</a:t>
            </a:r>
            <a:endParaRPr sz="1100" b="1" i="0">
              <a:solidFill>
                <a:srgbClr val="1B5E2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84632" y="3669030"/>
            <a:ext cx="239572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</a:rPr>
              <a:t>基线对照评测</a:t>
            </a:r>
            <a:endParaRPr sz="1200" b="1" i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84632" y="3998214"/>
            <a:ext cx="2395728" cy="8983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</a:rPr>
              <a:t>与 Csmith、YARPGen、GrayC、HLPFuzz 等基线方法对照，量化覆盖率推进与缺陷发现上的相对优势。</a:t>
            </a:r>
            <a:endParaRPr sz="950" b="0" i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3209544" y="3102102"/>
            <a:ext cx="2724912" cy="1858518"/>
          </a:xfrm>
          <a:prstGeom prst="rect">
            <a:avLst/>
          </a:prstGeom>
          <a:solidFill>
            <a:srgbClr val="E8F5E9"/>
          </a:solidFill>
          <a:ln w="9525">
            <a:solidFill>
              <a:srgbClr val="1B5E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209544" y="3102102"/>
            <a:ext cx="2724912" cy="4572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74136" y="3193542"/>
            <a:ext cx="23957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1">
                <a:solidFill>
                  <a:srgbClr val="FFC107"/>
                </a:solidFill>
                <a:latin typeface="Microsoft YaHei" panose="020B0503020204020204" charset="-122"/>
                <a:ea typeface="Microsoft YaHei" panose="020B0503020204020204" charset="-122"/>
              </a:rPr>
              <a:t>S5</a:t>
            </a:r>
            <a:endParaRPr sz="1000" b="1" i="1">
              <a:solidFill>
                <a:srgbClr val="FFC107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3374136" y="3376422"/>
            <a:ext cx="239572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B5E20"/>
                </a:solidFill>
                <a:latin typeface="Microsoft YaHei" panose="020B0503020204020204" charset="-122"/>
                <a:ea typeface="Microsoft YaHei" panose="020B0503020204020204" charset="-122"/>
              </a:rPr>
              <a:t>2027.02 — 2027.04</a:t>
            </a:r>
            <a:endParaRPr sz="1100" b="1" i="0">
              <a:solidFill>
                <a:srgbClr val="1B5E2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3374136" y="3669030"/>
            <a:ext cx="239572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</a:rPr>
              <a:t>论文初稿与投稿</a:t>
            </a:r>
            <a:endParaRPr sz="1200" b="1" i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3374136" y="3998214"/>
            <a:ext cx="2395728" cy="8983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</a:rPr>
              <a:t>整理实验数据与图表，完成学位论文初稿，准备会议 / 期刊投稿。</a:t>
            </a:r>
            <a:endParaRPr sz="950" b="0" i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6099048" y="3102102"/>
            <a:ext cx="2724912" cy="1858518"/>
          </a:xfrm>
          <a:prstGeom prst="rect">
            <a:avLst/>
          </a:prstGeom>
          <a:solidFill>
            <a:srgbClr val="E8F5E9"/>
          </a:solidFill>
          <a:ln w="9525">
            <a:solidFill>
              <a:srgbClr val="1B5E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099048" y="3102102"/>
            <a:ext cx="2724912" cy="4572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3193542"/>
            <a:ext cx="23957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1">
                <a:solidFill>
                  <a:srgbClr val="FFC107"/>
                </a:solidFill>
                <a:latin typeface="Microsoft YaHei" panose="020B0503020204020204" charset="-122"/>
                <a:ea typeface="Microsoft YaHei" panose="020B0503020204020204" charset="-122"/>
              </a:rPr>
              <a:t>S6</a:t>
            </a:r>
            <a:endParaRPr sz="1000" b="1" i="1">
              <a:solidFill>
                <a:srgbClr val="FFC107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263640" y="3376422"/>
            <a:ext cx="239572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B5E20"/>
                </a:solidFill>
                <a:latin typeface="Microsoft YaHei" panose="020B0503020204020204" charset="-122"/>
                <a:ea typeface="Microsoft YaHei" panose="020B0503020204020204" charset="-122"/>
              </a:rPr>
              <a:t>2027.04 — 2027.06</a:t>
            </a:r>
            <a:endParaRPr sz="1100" b="1" i="0">
              <a:solidFill>
                <a:srgbClr val="1B5E2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263640" y="3669030"/>
            <a:ext cx="239572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</a:rPr>
              <a:t>修订与答辩准备</a:t>
            </a:r>
            <a:endParaRPr sz="1200" b="1" i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263640" y="3998214"/>
            <a:ext cx="2395728" cy="8983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</a:rPr>
              <a:t>学位论文修订、外审反馈处理、答辩材料准备；2027.06 学位论文答辩。</a:t>
            </a:r>
            <a:endParaRPr sz="950" b="0" i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8229600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200" b="1" i="0">
                <a:solidFill>
                  <a:srgbClr val="1B5E20"/>
                </a:solidFill>
                <a:latin typeface="Microsoft YaHei" panose="020B0503020204020204" charset="-122"/>
                <a:ea typeface="Microsoft YaHei" panose="020B0503020204020204" charset="-122"/>
              </a:rPr>
              <a:t>感谢聆听</a:t>
            </a:r>
            <a:endParaRPr sz="7200" b="1" i="0">
              <a:solidFill>
                <a:srgbClr val="1B5E2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114800" y="2788920"/>
            <a:ext cx="914400" cy="54864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0" i="0">
                <a:solidFill>
                  <a:srgbClr val="555555"/>
                </a:solidFill>
                <a:latin typeface="Microsoft YaHei" panose="020B0503020204020204" charset="-122"/>
                <a:ea typeface="Microsoft YaHei" panose="020B0503020204020204" charset="-122"/>
              </a:rPr>
              <a:t>敬请各位老师批评指正</a:t>
            </a:r>
            <a:endParaRPr sz="2000" b="0" i="0">
              <a:solidFill>
                <a:srgbClr val="555555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4503420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1">
                <a:solidFill>
                  <a:srgbClr val="555555"/>
                </a:solidFill>
                <a:latin typeface="Microsoft YaHei" panose="020B0503020204020204" charset="-122"/>
                <a:ea typeface="Microsoft YaHei" panose="020B0503020204020204" charset="-122"/>
              </a:rPr>
              <a:t>张景耀  ·  指导教师：徐坚皓  ·  东南大学网络空间安全学院  ·  2026.05</a:t>
            </a:r>
            <a:endParaRPr sz="1100" b="0" i="1">
              <a:solidFill>
                <a:srgbClr val="555555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4295</Words>
  <Application>WPS 演示</Application>
  <PresentationFormat>On-screen Show (4:3)</PresentationFormat>
  <Paragraphs>378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0" baseType="lpstr">
      <vt:lpstr>Arial</vt:lpstr>
      <vt:lpstr>宋体</vt:lpstr>
      <vt:lpstr>Wingdings</vt:lpstr>
      <vt:lpstr>Arial</vt:lpstr>
      <vt:lpstr>Microsoft YaHei</vt:lpstr>
      <vt:lpstr>Calibri</vt:lpstr>
      <vt:lpstr>微软雅黑</vt:lpstr>
      <vt:lpstr>Arial Unicode MS</vt:lpstr>
      <vt:lpstr>Courier New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DeFuzz: LLM 驱动的编译器软件防御机制模糊测试</dc:title>
  <dc:creator>DeFuzz</dc:creator>
  <dc:description>generated using python-pptx</dc:description>
  <dc:subject>硕士学位论文开题答辩</dc:subject>
  <cp:lastModifiedBy>耀一世风光</cp:lastModifiedBy>
  <cp:revision>3</cp:revision>
  <dcterms:created xsi:type="dcterms:W3CDTF">2026-05-14T17:42:19Z</dcterms:created>
  <dcterms:modified xsi:type="dcterms:W3CDTF">2026-05-14T17:42:19Z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518C8A6CFA08A8043909066A19525916_42</vt:lpwstr>
  </property>
  <property fmtid="{D5CDD505-2E9C-101B-9397-08002B2CF9AE}" pid="3" name="KSOProductBuildVer">
    <vt:lpwstr>2052-12.1.2.25882</vt:lpwstr>
  </property>
</Properties>
</file>