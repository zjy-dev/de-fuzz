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73" r:id="rId3"/>
    <p:sldId id="256" r:id="rId4"/>
    <p:sldId id="257" r:id="rId5"/>
    <p:sldId id="258" r:id="rId6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4" r:id="rId20"/>
    <p:sldId id="275" r:id="rId21"/>
    <p:sldId id="276" r:id="rId22"/>
  </p:sldIdLst>
  <p:sldSz cx="9144000" cy="51435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720185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6306" y="1562610"/>
            <a:ext cx="7500529" cy="42190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833314" y="6016049"/>
            <a:ext cx="6666513" cy="492222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720185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7780B5-B069-4DEA-AA2C-D44F51502D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AD3B11-5362-4688-BBE2-81D664B7F2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09C2DC-9FCC-4F1E-AF0C-5650504637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E3F750-E57E-485E-B74B-37EB069961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581300-FE0D-48EB-84C9-AAF4CF9AB4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159115-297F-442F-9B72-22971A1F0A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 panose="020B0604020202020204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D0A43A-61F3-40A8-9139-1CBEAD76A3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73BE13-3617-4231-A663-12E7626182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DEF34B-2A65-4A42-9280-B1AAC4D5B0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 hasCustomPrompt="1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spcBef>
                <a:spcPts val="56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spcBef>
                <a:spcPts val="48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  <a:lvl6pPr lvl="5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6pPr>
            <a:lvl7pPr lvl="6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7pPr>
          </a:lstStyle>
          <a:p>
            <a:pPr marL="342900" indent="-342900" algn="l" defTabSz="457200"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864235" lvl="1" indent="-323850" algn="l" defTabSz="457200">
              <a:spcBef>
                <a:spcPts val="56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296035" lvl="2" indent="-288290" algn="l" defTabSz="457200">
              <a:spcBef>
                <a:spcPts val="48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727835" lvl="3" indent="-2159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160270" lvl="4" indent="-2159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592070" lvl="5" indent="-215900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3023870" lvl="6" indent="-215900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</a:lstStyle>
          <a:p>
            <a:pPr marL="342900" indent="-342900" algn="l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742950" lvl="1" indent="-285750" algn="l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844E07-A5DC-4E2F-96D2-530C8A389C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 hasCustomPrompt="1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 defTabSz="457200">
              <a:spcBef>
                <a:spcPts val="56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 defTabSz="457200">
              <a:spcBef>
                <a:spcPts val="48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  <a:lvl6pPr lvl="5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6pPr>
            <a:lvl7pPr lvl="6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7pPr>
          </a:lstStyle>
          <a:p>
            <a:pPr algn="l" defTabSz="457200">
              <a:spcBef>
                <a:spcPts val="28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lvl="1" algn="l" defTabSz="457200">
              <a:spcBef>
                <a:spcPts val="56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14400" lvl="2" algn="l" defTabSz="457200">
              <a:spcBef>
                <a:spcPts val="48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0" lvl="5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743200" lvl="6" algn="l" defTabSz="4572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DB7AB6-5009-4D32-A5E5-0F7516309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u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43891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58405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网络空间安全学院</a:t>
            </a:r>
            <a:endParaRPr sz="1400" b="0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59292"/>
            <a:ext cx="8229600" cy="861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基于大语言模型的编译器防御机制</a:t>
            </a:r>
            <a:endParaRPr sz="28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sz="28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脆弱性分析方法研究</a:t>
            </a:r>
            <a:endParaRPr sz="28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97680" y="1843532"/>
            <a:ext cx="548640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3246120"/>
            <a:ext cx="5120640" cy="11430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246120"/>
            <a:ext cx="73152" cy="1143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34107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研究生：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张景耀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　号：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245569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3410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指导教师：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徐坚皓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23317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学位类别：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专业硕士</a:t>
            </a:r>
            <a:endParaRPr sz="1200" b="0" i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开题报告  ·  2026.05</a:t>
            </a:r>
            <a:endParaRPr sz="1100" b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40080" y="141732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0" b="1" u="none" strike="noStrike">
                <a:solidFill>
                  <a:srgbClr val="C8E6C9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2743200" y="2121480"/>
            <a:ext cx="72720" cy="8683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017520" y="205740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4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研究背景与意义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017520" y="2697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Background &amp; Motivation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40080" y="45036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漏洞过载环境下，编译器防御机制如何成为系统安全的坚实后盾？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320040" y="121320"/>
            <a:ext cx="850356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研究背景与意义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研究背景：漏洞过载环境下，防御机制愈发重要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448310" y="4011635"/>
            <a:ext cx="534888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1: </a:t>
            </a:r>
            <a:r>
              <a:rPr lang="zh-CN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近 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10 </a:t>
            </a:r>
            <a:r>
              <a:rPr lang="zh-CN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年 </a:t>
            </a: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CVE </a:t>
            </a:r>
            <a:r>
              <a:rPr lang="zh-CN" sz="10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年度发布数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6" name="Rectangle 9"/>
          <p:cNvSpPr/>
          <p:nvPr/>
        </p:nvSpPr>
        <p:spPr>
          <a:xfrm>
            <a:off x="5868035" y="3094355"/>
            <a:ext cx="2953385" cy="143383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7" name="Rectangle 10"/>
          <p:cNvSpPr/>
          <p:nvPr/>
        </p:nvSpPr>
        <p:spPr>
          <a:xfrm>
            <a:off x="5870520" y="3102610"/>
            <a:ext cx="2953080" cy="453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6012125" y="3291785"/>
            <a:ext cx="267876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防御机制：重要性愈发显著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6007735" y="3559810"/>
            <a:ext cx="2679065" cy="9683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防御机制（栈金丝雀、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CFI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等）是软件安全的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"兜底层"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——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在漏洞</a:t>
            </a:r>
            <a:r>
              <a:rPr lang="zh-CN" altLang="en-US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被触发时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, 可以在末端切断攻击链，挡住攻击者拿到</a:t>
            </a:r>
            <a:r>
              <a:rPr lang="zh-CN" altLang="en-US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控制权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0000"/>
              </a:lnSpc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0" name="Rectangle 13"/>
          <p:cNvSpPr/>
          <p:nvPr/>
        </p:nvSpPr>
        <p:spPr>
          <a:xfrm>
            <a:off x="5869940" y="1165860"/>
            <a:ext cx="2953385" cy="1524635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1" name="Rectangle 14"/>
          <p:cNvSpPr/>
          <p:nvPr/>
        </p:nvSpPr>
        <p:spPr>
          <a:xfrm>
            <a:off x="5869885" y="1165715"/>
            <a:ext cx="2953080" cy="4536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6005775" y="1379655"/>
            <a:ext cx="267876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漏洞难以根除</a:t>
            </a:r>
            <a:endParaRPr lang="zh-CN" sz="1200" b="1" u="none" strike="noStrike">
              <a:solidFill>
                <a:srgbClr val="1B5E20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6006410" y="1812780"/>
            <a:ext cx="2678760" cy="4356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CVE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数量逐年攀升, 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Google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等大厂已经意识到代码 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Bug </a:t>
            </a:r>
            <a:r>
              <a:rPr lang="zh-CN" altLang="en-US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不可能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被彻底修干净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320040" y="4814280"/>
            <a:ext cx="8503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50" b="0" i="1" u="none" strike="noStrike">
                <a:solidFill>
                  <a:srgbClr val="9E9E9E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数据来源</a:t>
            </a:r>
            <a:r>
              <a:rPr lang="en-US" sz="850" b="0" i="1" u="none" strike="noStrike">
                <a:solidFill>
                  <a:srgbClr val="9E9E9E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: NVD · cve.org · JerryGamblin 2024–2025 CVE Data Review</a:t>
            </a:r>
            <a:endParaRPr lang="en-US" sz="850" b="0" i="1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" name="图片 1" descr="cve_growth.z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670050"/>
            <a:ext cx="4949190" cy="2156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20040" y="121320"/>
            <a:ext cx="8503560" cy="305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研究背景与意义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现实困境：防御机制本身的脆弱性——栈金丝雀（</a:t>
            </a: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Canary</a:t>
            </a:r>
            <a:r>
              <a:rPr lang="zh-CN" alt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在 </a:t>
            </a: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AArch64 </a:t>
            </a: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上失效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91" name="Picture 7" descr="stack-layout.zh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2833920" cy="35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8"/>
          <p:cNvSpPr/>
          <p:nvPr/>
        </p:nvSpPr>
        <p:spPr>
          <a:xfrm>
            <a:off x="411480" y="4613040"/>
            <a:ext cx="283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2: AArch64 </a:t>
            </a: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栈帧布局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(CVE-2023-4039)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3474360" y="1051560"/>
            <a:ext cx="5349240" cy="167976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4" name="Rectangle 10"/>
          <p:cNvSpPr/>
          <p:nvPr/>
        </p:nvSpPr>
        <p:spPr>
          <a:xfrm>
            <a:off x="3474360" y="1051560"/>
            <a:ext cx="72720" cy="16797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3657240" y="1275715"/>
            <a:ext cx="507492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Canary </a:t>
            </a:r>
            <a:r>
              <a:rPr lang="zh-CN" altLang="en-US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介绍</a:t>
            </a:r>
            <a:endParaRPr lang="zh-CN" altLang="en-US" sz="1200" b="1" u="none" strike="noStrike">
              <a:solidFill>
                <a:srgbClr val="1B5E20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3657240" y="1635870"/>
            <a:ext cx="5074920" cy="9232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  <a:spcAft>
                <a:spcPts val="4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编译器在栈帧的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缓冲区与返回地址之间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放置</a:t>
            </a:r>
            <a:r>
              <a:rPr lang="zh-CN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随机值哨兵（金丝雀），以此来保护函数返回地址，阻止栈溢出（</a:t>
            </a:r>
            <a:r>
              <a:rPr lang="en-US" altLang="zh-CN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Buffer Overflow</a:t>
            </a:r>
            <a:r>
              <a:rPr lang="zh-CN" altLang="en-US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）攻击</a:t>
            </a:r>
            <a:r>
              <a:rPr lang="zh-CN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函数返回前检查金丝雀是否被改写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一旦改写就报错强行终止程序。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主流包管理器在构建官方软件包时，均已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默认启用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栈金丝雀。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3474360" y="2896200"/>
            <a:ext cx="5349240" cy="167976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3474360" y="2896200"/>
            <a:ext cx="72720" cy="16797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3657240" y="3127975"/>
            <a:ext cx="507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AArch64 </a:t>
            </a:r>
            <a:r>
              <a:rPr lang="zh-CN" sz="12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上失效的根因 </a:t>
            </a: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(CVE-2023-4039)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3657240" y="3517700"/>
            <a:ext cx="5074920" cy="9232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固定把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en-US" altLang="zh-CN" sz="105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C</a:t>
            </a:r>
            <a:r>
              <a:rPr lang="en-US" sz="105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anary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放在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局部变量区的最上方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但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AArch64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栈帧把变长缓冲区（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VLA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放在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返回地址之下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, ,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金丝雀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被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绕开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5000"/>
              </a:lnSpc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也就是说，</a:t>
            </a:r>
            <a:r>
              <a:rPr lang="zh-CN" sz="105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防御机制的代码实现会与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指令集架构（ISA）的设计出现冲突从而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失效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320040" y="4814280"/>
            <a:ext cx="8503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50" b="0" i="1" u="none" strike="noStrike">
                <a:solidFill>
                  <a:srgbClr val="9E9E9E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这种失效具有破坏性的“双重无声”特征：编译不报错，运行也不异常。直到 </a:t>
            </a:r>
            <a:r>
              <a:rPr lang="en-US" sz="850" b="0" i="1" u="none" strike="noStrike">
                <a:solidFill>
                  <a:srgbClr val="9E9E9E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2023 </a:t>
            </a:r>
            <a:r>
              <a:rPr lang="zh-CN" sz="850" b="0" i="1" u="none" strike="noStrike">
                <a:solidFill>
                  <a:srgbClr val="9E9E9E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年才被外部发现。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研究背景与意义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研究意义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108" name="Picture 7" descr="defense-matrix.zh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20040" y="1339560"/>
            <a:ext cx="4571640" cy="22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8"/>
          <p:cNvSpPr/>
          <p:nvPr/>
        </p:nvSpPr>
        <p:spPr>
          <a:xfrm>
            <a:off x="320040" y="3675960"/>
            <a:ext cx="45716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3: </a:t>
            </a: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防御机制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× ISA </a:t>
            </a: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矩阵与漏洞上报情况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Rectangle 9"/>
          <p:cNvSpPr/>
          <p:nvPr/>
        </p:nvSpPr>
        <p:spPr>
          <a:xfrm>
            <a:off x="5120640" y="1051560"/>
            <a:ext cx="3702960" cy="147420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1" name="Rectangle 10"/>
          <p:cNvSpPr/>
          <p:nvPr/>
        </p:nvSpPr>
        <p:spPr>
          <a:xfrm>
            <a:off x="5120640" y="1051560"/>
            <a:ext cx="72720" cy="147420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5303520" y="1287780"/>
            <a:ext cx="342864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问题空间巨大：机制与架构的组合爆炸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5303520" y="1616820"/>
            <a:ext cx="3428640" cy="65341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防御机制和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ISA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种类多，且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越来越多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“防御机制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× ISA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”的二维空间十分庞大，且结合起来逻辑复杂，人工审计难以覆盖。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4" name="Rectangle 13"/>
          <p:cNvSpPr/>
          <p:nvPr/>
        </p:nvSpPr>
        <p:spPr>
          <a:xfrm>
            <a:off x="5120640" y="2690640"/>
            <a:ext cx="3702960" cy="147420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5" name="Rectangle 14"/>
          <p:cNvSpPr/>
          <p:nvPr/>
        </p:nvSpPr>
        <p:spPr>
          <a:xfrm>
            <a:off x="5120640" y="2690640"/>
            <a:ext cx="72720" cy="147420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5303520" y="2931940"/>
            <a:ext cx="342864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漏洞检测难题：如何察觉静默失效？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7" name="TextBox 16"/>
          <p:cNvSpPr/>
          <p:nvPr/>
        </p:nvSpPr>
        <p:spPr>
          <a:xfrm>
            <a:off x="5292090" y="3292095"/>
            <a:ext cx="3428640" cy="65341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程序</a:t>
            </a:r>
            <a:r>
              <a:rPr lang="zh-CN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不崩溃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，功能也</a:t>
            </a:r>
            <a:r>
              <a:rPr lang="zh-CN" sz="105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正常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，但安全契约已经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失守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5000"/>
              </a:lnSpc>
            </a:pP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5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传统的漏洞挖掘方法对此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毫无察觉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Rectangle 17"/>
          <p:cNvSpPr/>
          <p:nvPr/>
        </p:nvSpPr>
        <p:spPr>
          <a:xfrm>
            <a:off x="308610" y="4398880"/>
            <a:ext cx="8503560" cy="502560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9" name="Rectangle 18"/>
          <p:cNvSpPr/>
          <p:nvPr/>
        </p:nvSpPr>
        <p:spPr>
          <a:xfrm>
            <a:off x="308610" y="4398880"/>
            <a:ext cx="72720" cy="50256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491490" y="4453490"/>
            <a:ext cx="8229240" cy="1689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TextBox 20"/>
          <p:cNvSpPr/>
          <p:nvPr/>
        </p:nvSpPr>
        <p:spPr>
          <a:xfrm>
            <a:off x="491490" y="4628750"/>
            <a:ext cx="82292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深绿色的格点均存在通过本课题挖掘，且</a:t>
            </a:r>
            <a:r>
              <a:rPr 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已上报且被</a:t>
            </a:r>
            <a:r>
              <a:rPr lang="en-US" alt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GCC </a:t>
            </a:r>
            <a:r>
              <a:rPr lang="zh-CN" altLang="en-US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官方</a:t>
            </a:r>
            <a:r>
              <a:rPr 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确认</a:t>
            </a:r>
            <a:r>
              <a:rPr lang="en-US" alt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修复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的漏洞。</a:t>
            </a:r>
            <a:endParaRPr lang="zh-CN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40080" y="141732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0" b="1" u="none" strike="noStrike">
                <a:solidFill>
                  <a:srgbClr val="C8E6C9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2743200" y="2121480"/>
            <a:ext cx="72720" cy="8683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3017520" y="205740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4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研究现状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3017520" y="2697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Related 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640080" y="45036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静态分析与现有 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Fuzz </a:t>
            </a: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框架为何在防御机制的静默失效面前集体失灵？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研究现状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448200" y="667440"/>
            <a:ext cx="8375400" cy="240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研究现状：现有自动化方法为何集体失灵？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320040" y="1051560"/>
            <a:ext cx="3108600" cy="302184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6" name="Rectangle 8"/>
          <p:cNvSpPr/>
          <p:nvPr/>
        </p:nvSpPr>
        <p:spPr>
          <a:xfrm>
            <a:off x="320040" y="1051560"/>
            <a:ext cx="3108600" cy="453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484560" y="1188720"/>
            <a:ext cx="277956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静态分析的失灵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484560" y="1554480"/>
            <a:ext cx="2779560" cy="12820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40000"/>
              </a:lnSpc>
              <a:spcAft>
                <a:spcPts val="6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传统静态分析通过确定的代码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模式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去搜索海量的代码空间，从而发现同类漏洞。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40000"/>
              </a:lnSpc>
              <a:spcAft>
                <a:spcPts val="6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但防御机制失效的形态千奇百怪，大多数案例都有自己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独特的模式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，静态分析难以进行。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40000"/>
              </a:lnSpc>
              <a:spcAft>
                <a:spcPts val="6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因此本课题采用动态</a:t>
            </a:r>
            <a:r>
              <a:rPr lang="zh-CN" sz="10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模糊测试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（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Fuzz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）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的方案。</a:t>
            </a:r>
            <a:endParaRPr lang="zh-CN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9" name="Rectangle 11"/>
          <p:cNvSpPr/>
          <p:nvPr/>
        </p:nvSpPr>
        <p:spPr>
          <a:xfrm>
            <a:off x="3630240" y="1051560"/>
            <a:ext cx="5193360" cy="144216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0" name="Rectangle 12"/>
          <p:cNvSpPr/>
          <p:nvPr/>
        </p:nvSpPr>
        <p:spPr>
          <a:xfrm>
            <a:off x="3630240" y="1051560"/>
            <a:ext cx="72720" cy="14421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3813120" y="1143000"/>
            <a:ext cx="49190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WhiteFox</a:t>
            </a:r>
            <a:r>
              <a:rPr lang="en-US" sz="10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 · OSDI'24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3813120" y="1472040"/>
            <a:ext cx="4919040" cy="6000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种子生成：用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LLM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归纳函数的代码模式，根据模式生成种子。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预言机：常规的编译器崩溃或误编译，并不关心安全契约。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Rectangle 15"/>
          <p:cNvSpPr/>
          <p:nvPr/>
        </p:nvSpPr>
        <p:spPr>
          <a:xfrm>
            <a:off x="3630240" y="2631240"/>
            <a:ext cx="5193360" cy="144216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4" name="Rectangle 16"/>
          <p:cNvSpPr/>
          <p:nvPr/>
        </p:nvSpPr>
        <p:spPr>
          <a:xfrm>
            <a:off x="3630240" y="2631240"/>
            <a:ext cx="72720" cy="14421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5" name="TextBox 17"/>
          <p:cNvSpPr/>
          <p:nvPr/>
        </p:nvSpPr>
        <p:spPr>
          <a:xfrm>
            <a:off x="3813120" y="2722680"/>
            <a:ext cx="49190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HLPFuzz</a:t>
            </a:r>
            <a:r>
              <a:rPr lang="en-US" sz="10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 · USENIX Sec'25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3813120" y="3051720"/>
            <a:ext cx="4919040" cy="8001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种子生成：</a:t>
            </a:r>
            <a:r>
              <a:rPr lang="en-US" alt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LLM 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驱动的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渐进式约束求解，选定未覆盖的基本块，</a:t>
            </a:r>
            <a:r>
              <a:rPr lang="en-US" alt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LLM 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生成覆盖该基本块的种子。</a:t>
            </a:r>
            <a:endParaRPr lang="zh-CN" altLang="en-US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endParaRPr lang="zh-CN" altLang="en-US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r>
              <a:rPr lang="zh-CN" sz="100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预言机：常规的编译器崩溃，并不关心安全契约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Rectangle 19"/>
          <p:cNvSpPr/>
          <p:nvPr/>
        </p:nvSpPr>
        <p:spPr>
          <a:xfrm>
            <a:off x="320040" y="4439520"/>
            <a:ext cx="8503560" cy="594000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8" name="Rectangle 20"/>
          <p:cNvSpPr/>
          <p:nvPr/>
        </p:nvSpPr>
        <p:spPr>
          <a:xfrm>
            <a:off x="320040" y="4439520"/>
            <a:ext cx="72720" cy="59400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9" name="TextBox 21"/>
          <p:cNvSpPr/>
          <p:nvPr/>
        </p:nvSpPr>
        <p:spPr>
          <a:xfrm>
            <a:off x="502920" y="44852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Oracle </a:t>
            </a:r>
            <a:r>
              <a:rPr lang="zh-CN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空白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502920" y="4732200"/>
            <a:ext cx="82292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现有的编译器崩溃、差分预言机面对变异</a:t>
            </a:r>
            <a:r>
              <a:rPr 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不报错、正常运行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的安全机制静默失效束手无策。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640080" y="141732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0" b="1" u="none" strike="noStrike">
                <a:solidFill>
                  <a:srgbClr val="C8E6C9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2743200" y="2121480"/>
            <a:ext cx="72720" cy="8683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3017520" y="205740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4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研究目标与内容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3017520" y="2697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Goals &amp;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640080" y="45036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核心目标：精准捕获“静默失效”；研究内容：构建从不变量到预言机的自动化检测链路。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研究目标与内容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5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7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研究内容：从安全契约到自动化模糊测试引擎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731520" y="2860200"/>
            <a:ext cx="7680600" cy="13843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4:  </a:t>
            </a:r>
            <a:r>
              <a:rPr lang="zh-CN" altLang="en-US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研究目标与内容</a:t>
            </a:r>
            <a:endParaRPr lang="zh-CN" altLang="en-US" sz="900" b="0" i="1" u="none" strike="noStrike">
              <a:solidFill>
                <a:srgbClr val="666666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1" name="Rectangle 9"/>
          <p:cNvSpPr/>
          <p:nvPr/>
        </p:nvSpPr>
        <p:spPr>
          <a:xfrm>
            <a:off x="320040" y="3134520"/>
            <a:ext cx="2724480" cy="184392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2" name="Rectangle 10"/>
          <p:cNvSpPr/>
          <p:nvPr/>
        </p:nvSpPr>
        <p:spPr>
          <a:xfrm>
            <a:off x="320040" y="3134520"/>
            <a:ext cx="2724480" cy="453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3" name="TextBox 11"/>
          <p:cNvSpPr/>
          <p:nvPr/>
        </p:nvSpPr>
        <p:spPr>
          <a:xfrm>
            <a:off x="466200" y="3244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795075" y="3346720"/>
            <a:ext cx="2084400" cy="2025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zh-CN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提炼安全不变量（安全契约）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TextBox 13"/>
          <p:cNvSpPr/>
          <p:nvPr/>
        </p:nvSpPr>
        <p:spPr>
          <a:xfrm>
            <a:off x="484560" y="3701520"/>
            <a:ext cx="2395440" cy="3790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对主流防御机制分别进行调研，产出一套跨</a:t>
            </a:r>
            <a:r>
              <a:rPr lang="en-US" altLang="zh-CN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ISA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的安全契约。</a:t>
            </a:r>
            <a:endParaRPr lang="zh-CN" alt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6" name="Rectangle 14"/>
          <p:cNvSpPr/>
          <p:nvPr/>
        </p:nvSpPr>
        <p:spPr>
          <a:xfrm>
            <a:off x="3209400" y="3134520"/>
            <a:ext cx="2724480" cy="1843920"/>
          </a:xfrm>
          <a:prstGeom prst="rect">
            <a:avLst/>
          </a:prstGeom>
          <a:solidFill>
            <a:srgbClr val="E3F2FD"/>
          </a:solidFill>
          <a:ln>
            <a:solidFill>
              <a:srgbClr val="1565C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7" name="Rectangle 15"/>
          <p:cNvSpPr/>
          <p:nvPr/>
        </p:nvSpPr>
        <p:spPr>
          <a:xfrm>
            <a:off x="3209400" y="3134520"/>
            <a:ext cx="2724480" cy="4536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8" name="TextBox 16"/>
          <p:cNvSpPr/>
          <p:nvPr/>
        </p:nvSpPr>
        <p:spPr>
          <a:xfrm>
            <a:off x="3355920" y="3244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565C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TextBox 17"/>
          <p:cNvSpPr/>
          <p:nvPr/>
        </p:nvSpPr>
        <p:spPr>
          <a:xfrm>
            <a:off x="3740040" y="3325130"/>
            <a:ext cx="2084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zh-CN" sz="1200" b="1" u="none" strike="noStrike">
                <a:solidFill>
                  <a:srgbClr val="1565C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将不变量转化为可执行预言机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0" name="TextBox 18"/>
          <p:cNvSpPr/>
          <p:nvPr/>
        </p:nvSpPr>
        <p:spPr>
          <a:xfrm>
            <a:off x="3374280" y="3701520"/>
            <a:ext cx="2395440" cy="8616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根据不变量的品相，实现为程序化的，静态检测或动态运行的检查器。</a:t>
            </a:r>
            <a:endParaRPr lang="zh-CN" alt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endParaRPr lang="zh-CN" alt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任意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检查器断言</a:t>
            </a: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失败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即判定为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漏洞。</a:t>
            </a:r>
            <a:endParaRPr lang="zh-CN" alt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1" name="Rectangle 19"/>
          <p:cNvSpPr/>
          <p:nvPr/>
        </p:nvSpPr>
        <p:spPr>
          <a:xfrm>
            <a:off x="6099120" y="3134520"/>
            <a:ext cx="2724480" cy="1843920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2" name="Rectangle 20"/>
          <p:cNvSpPr/>
          <p:nvPr/>
        </p:nvSpPr>
        <p:spPr>
          <a:xfrm>
            <a:off x="6099120" y="3134520"/>
            <a:ext cx="2724480" cy="4536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3" name="TextBox 21"/>
          <p:cNvSpPr/>
          <p:nvPr/>
        </p:nvSpPr>
        <p:spPr>
          <a:xfrm>
            <a:off x="6245280" y="3244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③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4" name="TextBox 22"/>
          <p:cNvSpPr/>
          <p:nvPr/>
        </p:nvSpPr>
        <p:spPr>
          <a:xfrm>
            <a:off x="6629400" y="3320685"/>
            <a:ext cx="2084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LLM </a:t>
            </a:r>
            <a:r>
              <a:rPr lang="zh-CN" sz="12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与覆盖率驱动的主循环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5" name="TextBox 23"/>
          <p:cNvSpPr/>
          <p:nvPr/>
        </p:nvSpPr>
        <p:spPr>
          <a:xfrm>
            <a:off x="6263640" y="3701520"/>
            <a:ext cx="2395440" cy="6203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通过防御机制相关代码的覆盖率来保证种子多样性</a:t>
            </a: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endParaRPr 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将种子的多样性</a:t>
            </a:r>
            <a:r>
              <a:rPr lang="en-US" altLang="zh-CN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与</a:t>
            </a:r>
            <a:r>
              <a:rPr lang="en-US" altLang="zh-CN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预言机的健壮性</a:t>
            </a:r>
            <a:r>
              <a:rPr lang="en-US" altLang="zh-CN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做乘法</a:t>
            </a:r>
            <a:endParaRPr lang="zh-CN" altLang="en-US" sz="9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" name="图片 2" descr="pipeline.z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000125"/>
            <a:ext cx="7604760" cy="176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640080" y="141732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0" b="1" u="none" strike="noStrike">
                <a:solidFill>
                  <a:srgbClr val="C8E6C9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9" name="Rectangle 4"/>
          <p:cNvSpPr/>
          <p:nvPr/>
        </p:nvSpPr>
        <p:spPr>
          <a:xfrm>
            <a:off x="2743200" y="2121480"/>
            <a:ext cx="72720" cy="8683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0" name="TextBox 5"/>
          <p:cNvSpPr/>
          <p:nvPr/>
        </p:nvSpPr>
        <p:spPr>
          <a:xfrm>
            <a:off x="3017520" y="205740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4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研究方案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3017520" y="2697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Technical Route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640080" y="45036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从总体架构到核心算法：构建基于安全契约的自动化检测系统。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研究方案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5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448200" y="667440"/>
            <a:ext cx="8375400" cy="240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总体架构：模块化设计与协同逻辑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19" name="Picture 7" descr="architecture.zh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827530" y="988060"/>
            <a:ext cx="5487670" cy="26479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Box 8"/>
          <p:cNvSpPr/>
          <p:nvPr/>
        </p:nvSpPr>
        <p:spPr>
          <a:xfrm>
            <a:off x="2011680" y="3623760"/>
            <a:ext cx="512028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5: </a:t>
            </a:r>
            <a:r>
              <a:rPr lang="zh-CN" alt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系统</a:t>
            </a: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总体架构 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1" name="Rectangle 9"/>
          <p:cNvSpPr/>
          <p:nvPr/>
        </p:nvSpPr>
        <p:spPr>
          <a:xfrm>
            <a:off x="320040" y="3898080"/>
            <a:ext cx="8503560" cy="1098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484560" y="3988720"/>
            <a:ext cx="8174520" cy="8458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  <a:spcAft>
                <a:spcPts val="200"/>
              </a:spcAf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Fuzz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引擎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: 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各子模块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调度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25000"/>
              </a:lnSpc>
              <a:spcAft>
                <a:spcPts val="200"/>
              </a:spcAft>
            </a:pPr>
            <a:r>
              <a:rPr lang="en-US" sz="100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• LLM </a:t>
            </a:r>
            <a:r>
              <a:rPr lang="zh-CN" altLang="en-US" sz="1000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变异子系统：负责生成能提高代码覆盖率的种子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  <a:spcAft>
                <a:spcPts val="200"/>
              </a:spcAft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编译器子系统: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插桩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/ LLVM, 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负责覆盖率统计和种子编译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</a:pP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预言机子系统: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按机制聚合检查器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负责漏洞检测</a:t>
            </a:r>
            <a:endParaRPr lang="zh-CN" altLang="en-US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320040" y="4572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研究方案 — 预言机框架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5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448200" y="667440"/>
            <a:ext cx="8375400" cy="240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预言机框架：静态与动态维度的交叉判定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29" name="Picture 7" descr="oracle-flow.zh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2424240" cy="317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Box 8"/>
          <p:cNvSpPr/>
          <p:nvPr/>
        </p:nvSpPr>
        <p:spPr>
          <a:xfrm>
            <a:off x="502920" y="4247280"/>
            <a:ext cx="242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5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5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6: </a:t>
            </a:r>
            <a:r>
              <a:rPr lang="zh-CN" sz="95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预言机判定流程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Rectangle 9"/>
          <p:cNvSpPr/>
          <p:nvPr/>
        </p:nvSpPr>
        <p:spPr>
          <a:xfrm>
            <a:off x="3201840" y="1051560"/>
            <a:ext cx="5621760" cy="1506240"/>
          </a:xfrm>
          <a:prstGeom prst="rect">
            <a:avLst/>
          </a:prstGeom>
          <a:solidFill>
            <a:srgbClr val="E3F2FD"/>
          </a:solidFill>
          <a:ln>
            <a:solidFill>
              <a:srgbClr val="1565C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2" name="Rectangle 10"/>
          <p:cNvSpPr/>
          <p:nvPr/>
        </p:nvSpPr>
        <p:spPr>
          <a:xfrm>
            <a:off x="3201840" y="1051560"/>
            <a:ext cx="72720" cy="150624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3" name="TextBox 11"/>
          <p:cNvSpPr/>
          <p:nvPr/>
        </p:nvSpPr>
        <p:spPr>
          <a:xfrm>
            <a:off x="3384720" y="1143000"/>
            <a:ext cx="5347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565C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静态检查器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TextBox 12"/>
          <p:cNvSpPr/>
          <p:nvPr/>
        </p:nvSpPr>
        <p:spPr>
          <a:xfrm>
            <a:off x="3384720" y="1508760"/>
            <a:ext cx="5347440" cy="992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汇编分析：静态分析种子的汇编形态，检测特定模式漏洞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字节检测：扫描种子的二进制形态，搜索字节级异常。</a:t>
            </a: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使用交叉编译器编译各种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ISA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的种子。</a:t>
            </a: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5" name="Rectangle 13"/>
          <p:cNvSpPr/>
          <p:nvPr/>
        </p:nvSpPr>
        <p:spPr>
          <a:xfrm>
            <a:off x="3201840" y="2722680"/>
            <a:ext cx="5621760" cy="150624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6" name="Rectangle 14"/>
          <p:cNvSpPr/>
          <p:nvPr/>
        </p:nvSpPr>
        <p:spPr>
          <a:xfrm>
            <a:off x="3201840" y="2722680"/>
            <a:ext cx="72720" cy="15062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7" name="TextBox 15"/>
          <p:cNvSpPr/>
          <p:nvPr/>
        </p:nvSpPr>
        <p:spPr>
          <a:xfrm>
            <a:off x="3384720" y="2814120"/>
            <a:ext cx="5347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动态检查器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3384720" y="3179880"/>
            <a:ext cx="5347440" cy="99250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（内联）汇编插桩：在特定的时机检测并断言程序异常状态。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•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二分搜索：搜索特定的能触发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bug 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的程序参数，如缓冲区大小</a:t>
            </a: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使用 QEMU 运行各种 ISA 的种子。</a:t>
            </a: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9" name="Rectangle 17"/>
          <p:cNvSpPr/>
          <p:nvPr/>
        </p:nvSpPr>
        <p:spPr>
          <a:xfrm>
            <a:off x="320040" y="4576680"/>
            <a:ext cx="8503560" cy="456840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0" name="Rectangle 18"/>
          <p:cNvSpPr/>
          <p:nvPr/>
        </p:nvSpPr>
        <p:spPr>
          <a:xfrm>
            <a:off x="320040" y="4576680"/>
            <a:ext cx="72720" cy="45684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1" name="TextBox 19"/>
          <p:cNvSpPr/>
          <p:nvPr/>
        </p:nvSpPr>
        <p:spPr>
          <a:xfrm>
            <a:off x="502920" y="4622400"/>
            <a:ext cx="8229240" cy="1689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聚合判定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502920" y="4832640"/>
            <a:ext cx="82292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任何一处检查失败即视为安全契约被打破。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7" name="Rectangl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640080" y="141732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0" b="1" u="none" strike="noStrike">
                <a:solidFill>
                  <a:srgbClr val="C8E6C9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9" name="Rectangle 4"/>
          <p:cNvSpPr/>
          <p:nvPr/>
        </p:nvSpPr>
        <p:spPr>
          <a:xfrm>
            <a:off x="2743200" y="2121480"/>
            <a:ext cx="72720" cy="8683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3017520" y="2057400"/>
            <a:ext cx="5668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40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现有成果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3017520" y="269748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Preliminary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640080" y="450360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初步成果：已在 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</a:t>
            </a: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多个架构与版本中捕获 </a:t>
            </a:r>
            <a:r>
              <a:rPr lang="en-US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3 </a:t>
            </a:r>
            <a:r>
              <a:rPr lang="zh-CN" sz="1200" b="0" i="1" u="none" strike="noStrike">
                <a:solidFill>
                  <a:srgbClr val="555555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例静默失效缺陷。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4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现有成果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6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lang="en-US" sz="900" b="0" u="none" strike="noStrike">
              <a:solidFill>
                <a:srgbClr val="666666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7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8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初步成果：在 </a:t>
            </a: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</a:t>
            </a: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多个架构中检出严重漏洞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9" name="Rectangle 7"/>
          <p:cNvSpPr/>
          <p:nvPr/>
        </p:nvSpPr>
        <p:spPr>
          <a:xfrm>
            <a:off x="320040" y="1124640"/>
            <a:ext cx="2724480" cy="325944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0" name="Rectangle 8"/>
          <p:cNvSpPr/>
          <p:nvPr/>
        </p:nvSpPr>
        <p:spPr>
          <a:xfrm>
            <a:off x="320040" y="1124640"/>
            <a:ext cx="2724480" cy="453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1" name="TextBox 9"/>
          <p:cNvSpPr/>
          <p:nvPr/>
        </p:nvSpPr>
        <p:spPr>
          <a:xfrm>
            <a:off x="484560" y="1252800"/>
            <a:ext cx="239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107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Bug 1</a:t>
            </a:r>
            <a:endParaRPr lang="en-US" sz="1100" b="1" u="none" strike="noStrike">
              <a:solidFill>
                <a:srgbClr val="FFC107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484560" y="1508760"/>
            <a:ext cx="2395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_FORTIFY_SOURCE size </a:t>
            </a:r>
            <a:r>
              <a:rPr lang="zh-CN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静默放宽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TextBox 11"/>
          <p:cNvSpPr/>
          <p:nvPr/>
        </p:nvSpPr>
        <p:spPr>
          <a:xfrm>
            <a:off x="484560" y="2039040"/>
            <a:ext cx="23954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ISA: All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TextBox 12"/>
          <p:cNvSpPr/>
          <p:nvPr/>
        </p:nvSpPr>
        <p:spPr>
          <a:xfrm>
            <a:off x="484560" y="2258640"/>
            <a:ext cx="23954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  <a:buClrTx/>
              <a:buSzTx/>
              <a:buFontTx/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上游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: </a:t>
            </a:r>
            <a:r>
              <a:rPr lang="en-US" sz="9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B</a:t>
            </a:r>
            <a:r>
              <a:rPr lang="en-US" sz="9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ugzilla-125079</a:t>
            </a:r>
            <a:endParaRPr lang="en-US" sz="950" b="1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5" name="TextBox 13"/>
          <p:cNvSpPr/>
          <p:nvPr/>
        </p:nvSpPr>
        <p:spPr>
          <a:xfrm>
            <a:off x="484560" y="2541960"/>
            <a:ext cx="2395440" cy="8001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编译器将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__strcat_chk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优化为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__stpcpy_chk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时，未相应减小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size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参数。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运行时保护能力被</a:t>
            </a:r>
            <a:r>
              <a:rPr 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暗中削减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6" name="Rectangle 14"/>
          <p:cNvSpPr/>
          <p:nvPr/>
        </p:nvSpPr>
        <p:spPr>
          <a:xfrm>
            <a:off x="320040" y="4018680"/>
            <a:ext cx="2724480" cy="36540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7" name="TextBox 15"/>
          <p:cNvSpPr/>
          <p:nvPr/>
        </p:nvSpPr>
        <p:spPr>
          <a:xfrm>
            <a:off x="429840" y="4120735"/>
            <a:ext cx="2505240" cy="1612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✓ 已合入 master</a:t>
            </a:r>
            <a:endParaRPr lang="zh-CN" altLang="en-US" sz="1050" b="1" u="none" strike="noStrike">
              <a:solidFill>
                <a:srgbClr val="1B5E20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8" name="Rectangle 16"/>
          <p:cNvSpPr/>
          <p:nvPr/>
        </p:nvSpPr>
        <p:spPr>
          <a:xfrm>
            <a:off x="3209400" y="1124640"/>
            <a:ext cx="2724480" cy="325944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9" name="Rectangle 17"/>
          <p:cNvSpPr/>
          <p:nvPr/>
        </p:nvSpPr>
        <p:spPr>
          <a:xfrm>
            <a:off x="3209400" y="1124640"/>
            <a:ext cx="2724480" cy="453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0" name="TextBox 18"/>
          <p:cNvSpPr/>
          <p:nvPr/>
        </p:nvSpPr>
        <p:spPr>
          <a:xfrm>
            <a:off x="3374280" y="1252800"/>
            <a:ext cx="239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107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Bug 2</a:t>
            </a:r>
            <a:endParaRPr lang="en-US" sz="1100" b="1" u="none" strike="noStrike">
              <a:solidFill>
                <a:srgbClr val="FFC107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1" name="TextBox 19"/>
          <p:cNvSpPr/>
          <p:nvPr/>
        </p:nvSpPr>
        <p:spPr>
          <a:xfrm>
            <a:off x="3374280" y="1508760"/>
            <a:ext cx="2395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IBT endbr </a:t>
            </a:r>
            <a:r>
              <a:rPr lang="zh-CN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字节模式漏检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2" name="TextBox 20"/>
          <p:cNvSpPr/>
          <p:nvPr/>
        </p:nvSpPr>
        <p:spPr>
          <a:xfrm>
            <a:off x="3374280" y="2039040"/>
            <a:ext cx="23954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ISA: </a:t>
            </a: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x86</a:t>
            </a:r>
            <a:r>
              <a:rPr lang="zh-CN" alt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sz="9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x64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TextBox 21"/>
          <p:cNvSpPr/>
          <p:nvPr/>
        </p:nvSpPr>
        <p:spPr>
          <a:xfrm>
            <a:off x="3374280" y="2258640"/>
            <a:ext cx="23954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上游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: </a:t>
            </a:r>
            <a:r>
              <a:rPr lang="en-US" sz="950" b="1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GCC Bugzilla</a:t>
            </a:r>
            <a:r>
              <a:rPr lang="en-US" sz="95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-125084</a:t>
            </a:r>
            <a:endParaRPr lang="en-US" sz="950" b="1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TextBox 22"/>
          <p:cNvSpPr/>
          <p:nvPr/>
        </p:nvSpPr>
        <p:spPr>
          <a:xfrm>
            <a:off x="3374280" y="2541960"/>
            <a:ext cx="2395440" cy="8001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立即数中</a:t>
            </a:r>
            <a:r>
              <a:rPr lang="en-US" alt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endbr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字节模式被漏检。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代码段中出现冗余的跳转入口，保护能力被</a:t>
            </a:r>
            <a:r>
              <a:rPr lang="zh-CN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暗中削减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Rectangle 23"/>
          <p:cNvSpPr/>
          <p:nvPr/>
        </p:nvSpPr>
        <p:spPr>
          <a:xfrm>
            <a:off x="3209400" y="4018680"/>
            <a:ext cx="2724480" cy="365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6" name="TextBox 24"/>
          <p:cNvSpPr/>
          <p:nvPr/>
        </p:nvSpPr>
        <p:spPr>
          <a:xfrm>
            <a:off x="3319200" y="4018680"/>
            <a:ext cx="250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E6510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⏳ 等待维护者回复</a:t>
            </a:r>
            <a:endParaRPr lang="en-US" sz="1050" b="1" u="none" strike="noStrike">
              <a:solidFill>
                <a:srgbClr val="E65100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7" name="Rectangle 25"/>
          <p:cNvSpPr/>
          <p:nvPr/>
        </p:nvSpPr>
        <p:spPr>
          <a:xfrm>
            <a:off x="6099120" y="1124640"/>
            <a:ext cx="2724480" cy="325944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8" name="Rectangle 26"/>
          <p:cNvSpPr/>
          <p:nvPr/>
        </p:nvSpPr>
        <p:spPr>
          <a:xfrm>
            <a:off x="6099120" y="1124640"/>
            <a:ext cx="2724480" cy="4536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9" name="TextBox 27"/>
          <p:cNvSpPr/>
          <p:nvPr/>
        </p:nvSpPr>
        <p:spPr>
          <a:xfrm>
            <a:off x="6263640" y="1252800"/>
            <a:ext cx="2395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107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Bug 3</a:t>
            </a:r>
            <a:endParaRPr lang="en-US" sz="1100" b="1" u="none" strike="noStrike">
              <a:solidFill>
                <a:srgbClr val="FFC107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0" name="TextBox 28"/>
          <p:cNvSpPr/>
          <p:nvPr/>
        </p:nvSpPr>
        <p:spPr>
          <a:xfrm>
            <a:off x="6263640" y="1508760"/>
            <a:ext cx="2395440" cy="2197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zh-CN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多 </a:t>
            </a: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ISA Canary </a:t>
            </a:r>
            <a:r>
              <a:rPr lang="zh-CN" sz="13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寄存器残留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1" name="TextBox 29"/>
          <p:cNvSpPr/>
          <p:nvPr/>
        </p:nvSpPr>
        <p:spPr>
          <a:xfrm>
            <a:off x="6263640" y="2039040"/>
            <a:ext cx="2395440" cy="1536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ISA: 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龙芯、MIPS、Xtensa 等十余个架构</a:t>
            </a:r>
            <a:endParaRPr lang="zh-CN" altLang="en-US" sz="950" b="0" u="none" strike="noStrike">
              <a:solidFill>
                <a:srgbClr val="666666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2" name="TextBox 30"/>
          <p:cNvSpPr/>
          <p:nvPr/>
        </p:nvSpPr>
        <p:spPr>
          <a:xfrm>
            <a:off x="6263640" y="2258640"/>
            <a:ext cx="2395440" cy="1460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上游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: </a:t>
            </a:r>
            <a:r>
              <a:rPr lang="en-US" sz="950" b="1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GCC Bugzilla</a:t>
            </a:r>
            <a:r>
              <a:rPr lang="en-US" sz="950" b="1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-125045</a:t>
            </a:r>
            <a:r>
              <a:rPr lang="zh-CN" altLang="en-US" sz="950" b="1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、</a:t>
            </a:r>
            <a:r>
              <a:rPr lang="en-US" altLang="zh-CN" sz="950" b="1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125049</a:t>
            </a:r>
            <a:endParaRPr lang="en-US" altLang="zh-CN" sz="950" b="1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  <a:sym typeface="+mn-ea"/>
            </a:endParaRPr>
          </a:p>
        </p:txBody>
      </p:sp>
      <p:sp>
        <p:nvSpPr>
          <p:cNvPr id="313" name="TextBox 31"/>
          <p:cNvSpPr/>
          <p:nvPr/>
        </p:nvSpPr>
        <p:spPr>
          <a:xfrm>
            <a:off x="6263640" y="2541960"/>
            <a:ext cx="2395440" cy="8001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部分架构在函数返回前未清零金丝雀寄存器，导致金丝雀值残留在通用寄存器中。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0000"/>
              </a:lnSpc>
            </a:pP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一旦被利用，则栈金丝雀</a:t>
            </a: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几乎</a:t>
            </a:r>
            <a:r>
              <a:rPr lang="zh-CN" altLang="en-US" sz="10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彻底瓦解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sz="100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4" name="Rectangle 32"/>
          <p:cNvSpPr/>
          <p:nvPr/>
        </p:nvSpPr>
        <p:spPr>
          <a:xfrm>
            <a:off x="6099120" y="4018680"/>
            <a:ext cx="2724480" cy="36540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5" name="TextBox 33"/>
          <p:cNvSpPr/>
          <p:nvPr/>
        </p:nvSpPr>
        <p:spPr>
          <a:xfrm>
            <a:off x="6208920" y="4120735"/>
            <a:ext cx="2505240" cy="1612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✓ LoongArch </a:t>
            </a:r>
            <a:r>
              <a:rPr lang="zh-CN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已合入</a:t>
            </a:r>
            <a:r>
              <a:rPr lang="en-US" altLang="zh-CN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master</a:t>
            </a:r>
            <a:endParaRPr lang="en-US" altLang="zh-CN" sz="1050" b="1" u="none" strike="noStrike">
              <a:solidFill>
                <a:srgbClr val="1B5E20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6" name="TextBox 34"/>
          <p:cNvSpPr/>
          <p:nvPr/>
        </p:nvSpPr>
        <p:spPr>
          <a:xfrm>
            <a:off x="320040" y="466812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5000"/>
              </a:lnSpc>
            </a:pPr>
            <a:r>
              <a:rPr lang="zh-CN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当前实验范围涵盖 </a:t>
            </a:r>
            <a:r>
              <a:rPr lang="en-US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</a:t>
            </a:r>
            <a:r>
              <a:rPr lang="zh-CN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的多个架构与版本；针对 </a:t>
            </a:r>
            <a:r>
              <a:rPr lang="en-US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LLVM </a:t>
            </a:r>
            <a:r>
              <a:rPr lang="zh-CN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及其他防御机制的测试将在下一阶段展开。</a:t>
            </a:r>
            <a:endParaRPr lang="en-US" sz="900" b="0" i="1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8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现有成果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9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0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2" name="TextBox 6"/>
          <p:cNvSpPr/>
          <p:nvPr/>
        </p:nvSpPr>
        <p:spPr>
          <a:xfrm>
            <a:off x="448200" y="667440"/>
            <a:ext cx="8375400" cy="240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缺陷剖析：</a:t>
            </a:r>
            <a:r>
              <a:rPr lang="en-US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Canary </a:t>
            </a: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寄存器残留的破坏性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Rectangle 7"/>
          <p:cNvSpPr/>
          <p:nvPr/>
        </p:nvSpPr>
        <p:spPr>
          <a:xfrm>
            <a:off x="320040" y="1124640"/>
            <a:ext cx="4151160" cy="318636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4" name="Rectangle 8"/>
          <p:cNvSpPr/>
          <p:nvPr/>
        </p:nvSpPr>
        <p:spPr>
          <a:xfrm>
            <a:off x="320040" y="1124640"/>
            <a:ext cx="4151160" cy="453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5" name="TextBox 9"/>
          <p:cNvSpPr/>
          <p:nvPr/>
        </p:nvSpPr>
        <p:spPr>
          <a:xfrm>
            <a:off x="484560" y="1252800"/>
            <a:ext cx="3821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安全规范：不能让底牌漏出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TextBox 10"/>
          <p:cNvSpPr/>
          <p:nvPr/>
        </p:nvSpPr>
        <p:spPr>
          <a:xfrm>
            <a:off x="502920" y="1627560"/>
            <a:ext cx="3785400" cy="1294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  <a:spcAft>
                <a:spcPts val="8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① Canary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值来自全局 </a:t>
            </a:r>
            <a:r>
              <a:rPr lang="en-US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__stack_chk_guard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并在进程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线程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内复用。一旦这个值被窃取，后续防线就会彻底瓦解。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  <a:spcAft>
                <a:spcPts val="8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② Canary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需要频繁加载到通用寄存器中进行校验或压栈。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③ 安全规范强制要求：</a:t>
            </a:r>
            <a:r>
              <a:rPr lang="zh-CN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函数返回前必须把用过的金丝雀寄存器清零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。否则该值就会随寄存器泄漏给攻击者。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Rectangle 11"/>
          <p:cNvSpPr/>
          <p:nvPr/>
        </p:nvSpPr>
        <p:spPr>
          <a:xfrm>
            <a:off x="4672440" y="1124640"/>
            <a:ext cx="4151160" cy="3186360"/>
          </a:xfrm>
          <a:prstGeom prst="rect">
            <a:avLst/>
          </a:prstGeom>
          <a:solidFill>
            <a:srgbClr val="FFF8E1"/>
          </a:solidFill>
          <a:ln>
            <a:solidFill>
              <a:srgbClr val="FFC10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8" name="Rectangle 12"/>
          <p:cNvSpPr/>
          <p:nvPr/>
        </p:nvSpPr>
        <p:spPr>
          <a:xfrm>
            <a:off x="4672440" y="1124640"/>
            <a:ext cx="4151160" cy="4536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9" name="TextBox 13"/>
          <p:cNvSpPr/>
          <p:nvPr/>
        </p:nvSpPr>
        <p:spPr>
          <a:xfrm>
            <a:off x="4837320" y="1252800"/>
            <a:ext cx="3821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历史重演：同源缺陷跨架构潜伏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TextBox 14"/>
          <p:cNvSpPr/>
          <p:nvPr/>
        </p:nvSpPr>
        <p:spPr>
          <a:xfrm>
            <a:off x="4855320" y="1627560"/>
            <a:ext cx="3785400" cy="1346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  <a:spcAft>
                <a:spcPts val="1000"/>
              </a:spcAft>
            </a:pP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2020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年，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GCC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曾修复过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ARM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架构上的金丝雀寄存器残留问题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en-US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PR-96191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35000"/>
              </a:lnSpc>
              <a:spcAft>
                <a:spcPts val="10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但是，该修复从未同步给其他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ISA</a:t>
            </a:r>
            <a:r>
              <a:rPr lang="zh-CN" alt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zh-CN" altLang="en-US" sz="1050" b="0" u="none" strike="noStrike">
              <a:solidFill>
                <a:srgbClr val="333333"/>
              </a:solidFill>
              <a:effectLst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defTabSz="457200">
              <a:lnSpc>
                <a:spcPct val="135000"/>
              </a:lnSpc>
              <a:spcAft>
                <a:spcPts val="1000"/>
              </a:spcAft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由于程序不会崩溃，这个遗漏在 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5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年内无人察觉。系统看似开启了保护，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金丝雀值却随时可能被读取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Rectangle 15"/>
          <p:cNvSpPr/>
          <p:nvPr/>
        </p:nvSpPr>
        <p:spPr>
          <a:xfrm>
            <a:off x="320040" y="4576680"/>
            <a:ext cx="8503560" cy="456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2" name="TextBox 16"/>
          <p:cNvSpPr/>
          <p:nvPr/>
        </p:nvSpPr>
        <p:spPr>
          <a:xfrm>
            <a:off x="484560" y="4631400"/>
            <a:ext cx="8174520" cy="16891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本课题如何检测：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将“函数返回前必须清零金丝雀寄存器”提炼为一条</a:t>
            </a:r>
            <a:r>
              <a:rPr lang="zh-CN" sz="1100" b="1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安全不变量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，并用内联汇编插桩加以验证。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1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4" name="TextBox 2"/>
          <p:cNvSpPr/>
          <p:nvPr/>
        </p:nvSpPr>
        <p:spPr>
          <a:xfrm>
            <a:off x="320040" y="120470"/>
            <a:ext cx="8503560" cy="3073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现有成果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5" name="Rectangle 3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6" name="TextBox 4"/>
          <p:cNvSpPr/>
          <p:nvPr/>
        </p:nvSpPr>
        <p:spPr>
          <a:xfrm>
            <a:off x="8412480" y="4814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7" name="Rectangle 5"/>
          <p:cNvSpPr/>
          <p:nvPr/>
        </p:nvSpPr>
        <p:spPr>
          <a:xfrm>
            <a:off x="320040" y="693000"/>
            <a:ext cx="54360" cy="1900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8" name="TextBox 6"/>
          <p:cNvSpPr/>
          <p:nvPr/>
        </p:nvSpPr>
        <p:spPr>
          <a:xfrm>
            <a:off x="448200" y="687848"/>
            <a:ext cx="837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检测方案与上报反馈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Rectangle 7"/>
          <p:cNvSpPr/>
          <p:nvPr/>
        </p:nvSpPr>
        <p:spPr>
          <a:xfrm>
            <a:off x="320040" y="1106280"/>
            <a:ext cx="4114440" cy="300348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0" name="Rectangle 8"/>
          <p:cNvSpPr/>
          <p:nvPr/>
        </p:nvSpPr>
        <p:spPr>
          <a:xfrm>
            <a:off x="320040" y="1106280"/>
            <a:ext cx="4114440" cy="453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1" name="TextBox 9"/>
          <p:cNvSpPr/>
          <p:nvPr/>
        </p:nvSpPr>
        <p:spPr>
          <a:xfrm>
            <a:off x="484560" y="1234440"/>
            <a:ext cx="37854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动态检查器设计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TextBox 10"/>
          <p:cNvSpPr/>
          <p:nvPr/>
        </p:nvSpPr>
        <p:spPr>
          <a:xfrm>
            <a:off x="502920" y="1609200"/>
            <a:ext cx="3748680" cy="6286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在函数返回前插入汇编指令，读取各个</a:t>
            </a:r>
            <a:r>
              <a:rPr lang="en-US" alt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Caller-Saved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寄存器的值并与 </a:t>
            </a:r>
            <a:r>
              <a:rPr lang="en-US" sz="105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__stack_chk_guard</a:t>
            </a:r>
            <a:r>
              <a:rPr lang="en-US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对比；只要发现一致，即可确认 </a:t>
            </a:r>
            <a:r>
              <a:rPr lang="zh-CN" sz="105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金丝雀发生了泄漏</a:t>
            </a:r>
            <a:r>
              <a:rPr lang="zh-CN" sz="105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3" name="Rectangle 11"/>
          <p:cNvSpPr/>
          <p:nvPr/>
        </p:nvSpPr>
        <p:spPr>
          <a:xfrm>
            <a:off x="484560" y="2734200"/>
            <a:ext cx="3785400" cy="1311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4" name="TextBox 12"/>
          <p:cNvSpPr/>
          <p:nvPr/>
        </p:nvSpPr>
        <p:spPr>
          <a:xfrm>
            <a:off x="576000" y="2788920"/>
            <a:ext cx="3602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LoongArch </a:t>
            </a:r>
            <a:r>
              <a:rPr lang="zh-CN" sz="900" b="0" i="1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泄漏探针示例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5" name="TextBox 13"/>
          <p:cNvSpPr/>
          <p:nvPr/>
        </p:nvSpPr>
        <p:spPr>
          <a:xfrm>
            <a:off x="576000" y="3008520"/>
            <a:ext cx="3602520" cy="982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asm volatile (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</a:pP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    "la.local $t1, __stack_chk_guard\n"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</a:pP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    "ld.d   $t1, $t1, 0\n"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</a:pP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    "beq    $t1, $r12, leaked\n"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457200">
              <a:lnSpc>
                <a:spcPct val="125000"/>
              </a:lnSpc>
            </a:pP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);  // </a:t>
            </a:r>
            <a:r>
              <a:rPr lang="zh-CN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返回前若 </a:t>
            </a: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$r12 </a:t>
            </a:r>
            <a:r>
              <a:rPr lang="zh-CN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还存着 </a:t>
            </a:r>
            <a:r>
              <a:rPr lang="en-US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guard </a:t>
            </a:r>
            <a:r>
              <a:rPr lang="zh-CN" sz="850" b="0" u="none" strike="noStrike">
                <a:solidFill>
                  <a:srgbClr val="333333"/>
                </a:solidFill>
                <a:effectLst/>
                <a:uFillTx/>
                <a:latin typeface="Courier New" panose="02070309020205020404"/>
                <a:ea typeface="Microsoft YaHei" panose="020B0503020204020204" charset="-122"/>
              </a:rPr>
              <a:t>值 → 泄漏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346" name="Picture 14" descr="gcc-dev-sever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636080" y="1259280"/>
            <a:ext cx="4187520" cy="24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Box 15"/>
          <p:cNvSpPr/>
          <p:nvPr/>
        </p:nvSpPr>
        <p:spPr>
          <a:xfrm>
            <a:off x="4636080" y="3737880"/>
            <a:ext cx="4187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图 </a:t>
            </a:r>
            <a:r>
              <a:rPr lang="en-US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7: </a:t>
            </a:r>
            <a:r>
              <a:rPr lang="zh-CN" sz="950" b="0" u="none" strike="noStrike">
                <a:solidFill>
                  <a:srgbClr val="666666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上游对该安全隐患的确认邮件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8" name="Rectangle 16"/>
          <p:cNvSpPr/>
          <p:nvPr/>
        </p:nvSpPr>
        <p:spPr>
          <a:xfrm>
            <a:off x="320040" y="4375440"/>
            <a:ext cx="8503560" cy="658080"/>
          </a:xfrm>
          <a:prstGeom prst="rect">
            <a:avLst/>
          </a:prstGeom>
          <a:solidFill>
            <a:srgbClr val="E8F5E9"/>
          </a:solidFill>
          <a:ln>
            <a:solidFill>
              <a:srgbClr val="1B5E2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9" name="Rectangle 17"/>
          <p:cNvSpPr/>
          <p:nvPr/>
        </p:nvSpPr>
        <p:spPr>
          <a:xfrm>
            <a:off x="320040" y="4375440"/>
            <a:ext cx="72720" cy="65808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0" name="TextBox 18"/>
          <p:cNvSpPr/>
          <p:nvPr/>
        </p:nvSpPr>
        <p:spPr>
          <a:xfrm>
            <a:off x="502920" y="44301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1B5E20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上游反馈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TextBox 19"/>
          <p:cNvSpPr/>
          <p:nvPr/>
        </p:nvSpPr>
        <p:spPr>
          <a:xfrm>
            <a:off x="502920" y="4668120"/>
            <a:ext cx="822924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zh-CN" alt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龙芯的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维护者将其定性为严重安全漏洞 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en-US" sz="1000" b="1" u="none" strike="noStrike">
                <a:solidFill>
                  <a:srgbClr val="C62828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severe security vulnerability</a:t>
            </a:r>
            <a:r>
              <a:rPr lang="en-US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sz="1000" b="0" u="none" strike="noStrike">
                <a:solidFill>
                  <a:srgbClr val="333333"/>
                </a:solidFill>
                <a:effectLst/>
                <a:uFillTx/>
                <a:latin typeface="Microsoft YaHei" panose="020B0503020204020204" charset="-122"/>
                <a:ea typeface="Microsoft YaHei" panose="020B0503020204020204" charset="-122"/>
              </a:rPr>
              <a:t>，并决定将修复移植到旧版本。其他架构的同类隐患也正在依次上报。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进度安排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Schedule &amp; Plan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进度安排 — 学位论文工作计划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工作进度：四阶段推进，确保按期答辩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S1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2026.05 — 2026.07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扩展防御机制覆盖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在 canary、_FORTIFY_SOURCE、IBT 基础上，扩展到 BTI / PAC、Shadow Stack、CFI 等机制；丰富预言机的静态与动态检查器。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9544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544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S2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74136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2026.07 — 2026.09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74136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迁移到 LLVM 工具链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74136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把编译器子系统、覆盖率适配层、flag profile 扩展到 LLVM；对齐跨架构 / 跨编译器实验框架。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9048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S3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2026.09 — 2026.12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全机制端到端实验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在 GCC 与 LLVM 多版本、多 ISA 上完成全机制端到端实验，持续推进上游缺陷上报闭环。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S4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2026.12 — 2027.02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4632" y="3669030"/>
            <a:ext cx="2395728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对比评估实验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4632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与 Csmith、YARPGen、GrayC、HLPFuzz 等基线方法对照，量化覆盖率推进与缺陷发现上的相对优势。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09544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9544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S5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74136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2027.02 — 2027.04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74136" y="366903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论文初稿与投稿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74136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整理实验数据与图表，完成学位论文初稿，准备会议 / 期刊投稿。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99048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S6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63640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2027.04 — 2027.06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63640" y="366903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修订与答辩准备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63640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学位论文修订、外审反馈处理、答辩材料准备；2027.06 学位论文答辩。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感谢聆听</a:t>
            </a:r>
            <a:endParaRPr sz="7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0" y="2788920"/>
            <a:ext cx="9144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敬请各位老师批评指正</a:t>
            </a:r>
            <a:endParaRPr sz="2000" b="0" i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5034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张景耀  ·  指导教师：徐坚皓  ·  东南大学网络空间安全学院  ·  2026.05</a:t>
            </a:r>
            <a:endParaRPr sz="1100" b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3922</Words>
  <Application>WPS 演示</Application>
  <PresentationFormat/>
  <Paragraphs>376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Times New Roman</vt:lpstr>
      <vt:lpstr>Arial</vt:lpstr>
      <vt:lpstr>Symbol</vt:lpstr>
      <vt:lpstr>Microsoft YaHei</vt:lpstr>
      <vt:lpstr>微软雅黑</vt:lpstr>
      <vt:lpstr>Arial Unicode MS</vt:lpstr>
      <vt:lpstr>Courier New</vt:lpstr>
      <vt:lpstr>文泉驿正黑</vt:lpstr>
      <vt:lpstr>等距更纱黑体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DeFuzz: LLM 驱动的编译器软件防御机制模糊测试</dc:title>
  <dc:creator>DeFuzz</dc:creator>
  <dc:description>generated using python-pptx</dc:description>
  <dc:subject>硕士学位论文开题答辩</dc:subject>
  <cp:lastModifiedBy>耀一世风光</cp:lastModifiedBy>
  <cp:revision>73</cp:revision>
  <dcterms:created xsi:type="dcterms:W3CDTF">2026-05-15T01:33:19Z</dcterms:created>
  <dcterms:modified xsi:type="dcterms:W3CDTF">2026-05-15T01:33:19Z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B153B8D94BB3A14F8EE3056ADA54D53F_42</vt:lpwstr>
  </property>
  <property fmtid="{D5CDD505-2E9C-101B-9397-08002B2CF9AE}" pid="4" name="KSOProductBuildVer">
    <vt:lpwstr>2052-12.1.2.25882</vt:lpwstr>
  </property>
</Properties>
</file>